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this is the “how to do psychology” workshop for the lab.
By the end, students should know: (1) what counts as a good computational dissertation, (2) how the lab workflow is structured, (3) where the resources live in the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“Does X predict Y?” vs “Which candidate mechanism best explains the sequence of choices?”
This framing underpins your workshop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online datasets are a core pathway for dissertations in this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every workshop maps onto one step of this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“project operating system”.
Students will fill this repeatedly (toy model → real dataset → dissertation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non-technical: “If you’re surprised, you update more.”
Point them to the Intro Models handout for plain-English definitions and teaching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GitHub repo and click through the folders quickly.
Say: “Your task this week is to fork/create your own repo that mirrors this structure and can be re-run in Colab.”
Emphasise: “If it runs top-to-bottom from your repo, it’s dissertation-ready in principle.”
Expanded resources to link in the lab repo:
- docs/01_GAME_protocol.pdf
- docs/02_GAME_worksheet.docx
- docs/03_Colab_GitHub_quickstart.pdf
- docs/04_Open_science_publishing_guide.pdf
- docs/05_Intro_models_handout.pdf
- docs/06_Data_and_analysis_exemplar.pdf
- docs/07_Reproducibility_principles_Milkowski2018_onepager.pdf (summary + DOI)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mirrors your lab emphasis on simulation sweeps, log-likelihood, AIC/BIC, and (ideally) cross-validated predictive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distils Miłkowski, Hensel, &amp; Hohol’s argument that low model reproducibility is a bigger long-term threat than simply failing to re-run someone’s code, because omissions and hidden assumptions stop independent rebuilds.
Verification = does implementation match specification. Validation = does the model capture the target phenomenon at the level you claim.
Lab translation (quick and student-proof):
- keep the paper/write-up focused on the model definition, assumptions, idealisations, and what counts as success
- keep the repo focused on running and reuse: pinned environment, seeds, run-instructions, scripts that generate figures
- avoid brittle, hacky dependencies that make results platform-sensitive
Source to cite in student work:
Miłkowski, M., Hensel, W. M., &amp; Hohol, M. (2018). Journal of Computational Neuroscience. https://doi.org/10.1007/s10827-018-0702-z
[Sources]
- https://link.springer.com/article/10.1007/s10827-018-0702-z (Miłkowski et al., 2018)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“Open in Colab” link and the clone→install→run cells (or equivalent).
Reinforce: “If someone else can’t re-run it, you can’t claim it.”
Show where the notebook writes outputs: at least 1–2 plots + a small CSV results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examples short: bandits, sequential choice, etc.
Note: your workshop plan prioritises online datasets, with Gorilla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menu in your workshop doc as reassurance that this is “doable”.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as a timeline and checklist.
Emphasise the lab SOP: pinned environment, reproducible README, licences, availability statements.
[Sources]
- https://www.cos.io/initiatives/registered-reports (Registered Reports overview)
- https://help.osf.io/article/330-welcome-to-registrations (OSF registrations/prereg)
- https://blog.psyarxiv.com/about-psyarxiv/ (About PsyArXiv)
- https://help.zenodo.org/docs/github/archive-software/github-upload/ (Zenodo: archive a GitHub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boilerplate from the guide (adapted per dissertation norms).
Re-emphasise: AI can accelerate drafting, but reproducibility still depends on pinned environments + run-all notebooks.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framing explicit: “This is not your final dissertation project yet. It’s a reproduction exercise to prove you can run the lab workflow independently.”
The minimum they are demonstrating is exactly what the GAME worksheet asks for in A5 (Reproducible workflow) and the submission checklist: run-all notebook, seed(s), at least one fit/predictive check later, plus limitations.
The “student hand-in pack” format (repo link + commit hash, reproducibility log, etc.) is taken directly from the Publishing Guide.
Tell them: “If I can’t click your Colab link and reproduce your plot in 2 minutes, it isn’t submission-ready.”
Optional (if you want to reduce burden): allow a fork of the starter repo rather than requiring a new repo, but they must personalise README +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explicitly: “Tonight is the map. Your homework is to reproduce the map: your own repo, your own run, your own outputs.”
Encourage them to open the worksheet immediately and draft G1–G4 (core question, inputs/outputs/constraints, objective, theoretical commitment) and A5 (their repo + Colab plan).
Reassure them: Workshop 2 will show exactly how to load an online dataset and fit Model 1, so their job now is just to get the pipeline running.
Point them to the “Using Colab and GitHub” guide for the standard clone→install→run ritual.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D06A7A"/>
          </a:solidFill>
          <a:ln w="12700">
            <a:noFill/>
            <a:prstDash val="solid"/>
          </a:ln>
        </p:spPr>
      </p:sp>
      <p:sp>
        <p:nvSpPr>
          <p:cNvPr id="3" name="Text 1"/>
          <p:cNvSpPr/>
          <p:nvPr/>
        </p:nvSpPr>
        <p:spPr>
          <a:xfrm>
            <a:off x="685800" y="365760"/>
            <a:ext cx="10820095" cy="548640"/>
          </a:xfrm>
          <a:prstGeom prst="rect">
            <a:avLst/>
          </a:prstGeom>
          <a:noFill/>
          <a:ln/>
        </p:spPr>
        <p:txBody>
          <a:bodyPr wrap="square" rtlCol="0" anchor="ctr"/>
          <a:lstStyle/>
          <a:p>
            <a:pPr indent="0" marL="0">
              <a:buNone/>
            </a:pPr>
            <a:r>
              <a:rPr lang="en-US" sz="3400" b="1" dirty="0">
                <a:solidFill>
                  <a:srgbClr val="0F172A"/>
                </a:solidFill>
                <a:latin typeface="Calibri" pitchFamily="34" charset="0"/>
                <a:ea typeface="Calibri" pitchFamily="34" charset="-122"/>
                <a:cs typeface="Calibri" pitchFamily="34" charset="-120"/>
              </a:rPr>
              <a:t>Computational Psychology Lab: the paradigm</a:t>
            </a:r>
            <a:endParaRPr lang="en-US" sz="3400" dirty="0"/>
          </a:p>
        </p:txBody>
      </p:sp>
      <p:sp>
        <p:nvSpPr>
          <p:cNvPr id="4" name="Shape 2"/>
          <p:cNvSpPr/>
          <p:nvPr/>
        </p:nvSpPr>
        <p:spPr>
          <a:xfrm>
            <a:off x="685800" y="1024128"/>
            <a:ext cx="10820095" cy="0"/>
          </a:xfrm>
          <a:prstGeom prst="line">
            <a:avLst/>
          </a:prstGeom>
          <a:noFill/>
          <a:ln w="12700">
            <a:solidFill>
              <a:srgbClr val="E5E7EB"/>
            </a:solidFill>
            <a:prstDash val="solid"/>
          </a:ln>
        </p:spPr>
      </p:sp>
      <p:sp>
        <p:nvSpPr>
          <p:cNvPr id="5" name="Text 3"/>
          <p:cNvSpPr/>
          <p:nvPr/>
        </p:nvSpPr>
        <p:spPr>
          <a:xfrm>
            <a:off x="960120" y="1371600"/>
            <a:ext cx="10271455" cy="5303520"/>
          </a:xfrm>
          <a:prstGeom prst="rect">
            <a:avLst/>
          </a:prstGeom>
          <a:noFill/>
          <a:ln/>
        </p:spPr>
        <p:txBody>
          <a:bodyPr wrap="square" rtlCol="0" anchor="t"/>
          <a:lstStyle/>
          <a:p>
            <a:pPr marL="292100" indent="-292100">
              <a:lnSpc>
                <a:spcPct val="115000"/>
              </a:lnSpc>
              <a:buSzPct val="100000"/>
              <a:buChar char="•"/>
            </a:pPr>
            <a:r>
              <a:rPr lang="en-US" sz="2600" dirty="0">
                <a:solidFill>
                  <a:srgbClr val="111827"/>
                </a:solidFill>
                <a:latin typeface="Calibri" pitchFamily="34" charset="0"/>
                <a:ea typeface="Calibri" pitchFamily="34" charset="-122"/>
                <a:cs typeface="Calibri" pitchFamily="34" charset="-120"/>
              </a:rPr>
              <a:t>What modelling adds to psychology</a:t>
            </a:r>
            <a:endParaRPr lang="en-US" sz="2600" dirty="0"/>
          </a:p>
          <a:p>
            <a:pPr marL="292100" indent="-292100">
              <a:lnSpc>
                <a:spcPct val="115000"/>
              </a:lnSpc>
              <a:buSzPct val="100000"/>
              <a:buChar char="•"/>
            </a:pPr>
            <a:r>
              <a:rPr lang="en-US" sz="2600" dirty="0">
                <a:solidFill>
                  <a:srgbClr val="111827"/>
                </a:solidFill>
                <a:latin typeface="Calibri" pitchFamily="34" charset="0"/>
                <a:ea typeface="Calibri" pitchFamily="34" charset="-122"/>
                <a:cs typeface="Calibri" pitchFamily="34" charset="-120"/>
              </a:rPr>
              <a:t>The GAME protocol (how we run projects)</a:t>
            </a:r>
            <a:endParaRPr lang="en-US" sz="2600" dirty="0"/>
          </a:p>
          <a:p>
            <a:pPr marL="292100" indent="-292100">
              <a:lnSpc>
                <a:spcPct val="115000"/>
              </a:lnSpc>
              <a:buSzPct val="100000"/>
              <a:buChar char="•"/>
            </a:pPr>
            <a:r>
              <a:rPr lang="en-US" sz="2600" dirty="0">
                <a:solidFill>
                  <a:srgbClr val="111827"/>
                </a:solidFill>
                <a:latin typeface="Calibri" pitchFamily="34" charset="0"/>
                <a:ea typeface="Calibri" pitchFamily="34" charset="-122"/>
                <a:cs typeface="Calibri" pitchFamily="34" charset="-120"/>
              </a:rPr>
              <a:t>Best practices + publication pathway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D06A7A"/>
          </a:solidFill>
          <a:ln w="12700">
            <a:noFill/>
            <a:prstDash val="solid"/>
          </a:ln>
        </p:spPr>
      </p:sp>
      <p:sp>
        <p:nvSpPr>
          <p:cNvPr id="3" name="Text 1"/>
          <p:cNvSpPr/>
          <p:nvPr/>
        </p:nvSpPr>
        <p:spPr>
          <a:xfrm>
            <a:off x="685800" y="365760"/>
            <a:ext cx="10820095" cy="548640"/>
          </a:xfrm>
          <a:prstGeom prst="rect">
            <a:avLst/>
          </a:prstGeom>
          <a:noFill/>
          <a:ln/>
        </p:spPr>
        <p:txBody>
          <a:bodyPr wrap="square" rtlCol="0" anchor="ctr"/>
          <a:lstStyle/>
          <a:p>
            <a:pPr indent="0" marL="0">
              <a:buNone/>
            </a:pPr>
            <a:r>
              <a:rPr lang="en-US" sz="3400" b="1" dirty="0">
                <a:solidFill>
                  <a:srgbClr val="0F172A"/>
                </a:solidFill>
                <a:latin typeface="Calibri" pitchFamily="34" charset="0"/>
                <a:ea typeface="Calibri" pitchFamily="34" charset="-122"/>
                <a:cs typeface="Calibri" pitchFamily="34" charset="-120"/>
              </a:rPr>
              <a:t>Why computational modelling in psychology?</a:t>
            </a:r>
            <a:endParaRPr lang="en-US" sz="3400" dirty="0"/>
          </a:p>
        </p:txBody>
      </p:sp>
      <p:sp>
        <p:nvSpPr>
          <p:cNvPr id="4" name="Shape 2"/>
          <p:cNvSpPr/>
          <p:nvPr/>
        </p:nvSpPr>
        <p:spPr>
          <a:xfrm>
            <a:off x="685800" y="1024128"/>
            <a:ext cx="10820095" cy="0"/>
          </a:xfrm>
          <a:prstGeom prst="line">
            <a:avLst/>
          </a:prstGeom>
          <a:noFill/>
          <a:ln w="12700">
            <a:solidFill>
              <a:srgbClr val="E5E7EB"/>
            </a:solidFill>
            <a:prstDash val="solid"/>
          </a:ln>
        </p:spPr>
      </p:sp>
      <p:sp>
        <p:nvSpPr>
          <p:cNvPr id="5" name="Text 3"/>
          <p:cNvSpPr/>
          <p:nvPr/>
        </p:nvSpPr>
        <p:spPr>
          <a:xfrm>
            <a:off x="960120" y="1371600"/>
            <a:ext cx="10271455" cy="5303520"/>
          </a:xfrm>
          <a:prstGeom prst="rect">
            <a:avLst/>
          </a:prstGeom>
          <a:noFill/>
          <a:ln/>
        </p:spPr>
        <p:txBody>
          <a:bodyPr wrap="square" rtlCol="0" anchor="t"/>
          <a:lstStyle/>
          <a:p>
            <a:pPr marL="292100" indent="-292100">
              <a:lnSpc>
                <a:spcPct val="115000"/>
              </a:lnSpc>
              <a:buSzPct val="100000"/>
              <a:buChar char="•"/>
            </a:pPr>
            <a:r>
              <a:rPr lang="en-US" sz="2600" dirty="0">
                <a:solidFill>
                  <a:srgbClr val="111827"/>
                </a:solidFill>
                <a:latin typeface="Calibri" pitchFamily="34" charset="0"/>
                <a:ea typeface="Calibri" pitchFamily="34" charset="-122"/>
                <a:cs typeface="Calibri" pitchFamily="34" charset="-120"/>
              </a:rPr>
              <a:t>Psychology often measures effects</a:t>
            </a:r>
            <a:endParaRPr lang="en-US" sz="2600" dirty="0"/>
          </a:p>
          <a:p>
            <a:pPr marL="292100" indent="-292100">
              <a:lnSpc>
                <a:spcPct val="115000"/>
              </a:lnSpc>
              <a:buSzPct val="100000"/>
              <a:buChar char="•"/>
            </a:pPr>
            <a:r>
              <a:rPr lang="en-US" sz="2600" dirty="0">
                <a:solidFill>
                  <a:srgbClr val="111827"/>
                </a:solidFill>
                <a:latin typeface="Calibri" pitchFamily="34" charset="0"/>
                <a:ea typeface="Calibri" pitchFamily="34" charset="-122"/>
                <a:cs typeface="Calibri" pitchFamily="34" charset="-120"/>
              </a:rPr>
              <a:t>Modelling asks: what process mechanism could generate this pattern?</a:t>
            </a:r>
            <a:endParaRPr lang="en-US" sz="2600" dirty="0"/>
          </a:p>
          <a:p>
            <a:pPr marL="292100" indent="-292100">
              <a:lnSpc>
                <a:spcPct val="115000"/>
              </a:lnSpc>
              <a:buSzPct val="100000"/>
              <a:buChar char="•"/>
            </a:pPr>
            <a:r>
              <a:rPr lang="en-US" sz="2600" dirty="0">
                <a:solidFill>
                  <a:srgbClr val="111827"/>
                </a:solidFill>
                <a:latin typeface="Calibri" pitchFamily="34" charset="0"/>
                <a:ea typeface="Calibri" pitchFamily="34" charset="-122"/>
                <a:cs typeface="Calibri" pitchFamily="34" charset="-120"/>
              </a:rPr>
              <a:t>A dissertation can test explanations, not just correlations</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D06A7A"/>
          </a:solidFill>
          <a:ln w="12700">
            <a:noFill/>
            <a:prstDash val="solid"/>
          </a:ln>
        </p:spPr>
      </p:sp>
      <p:sp>
        <p:nvSpPr>
          <p:cNvPr id="3" name="Text 1"/>
          <p:cNvSpPr/>
          <p:nvPr/>
        </p:nvSpPr>
        <p:spPr>
          <a:xfrm>
            <a:off x="685800" y="365760"/>
            <a:ext cx="10820095" cy="548640"/>
          </a:xfrm>
          <a:prstGeom prst="rect">
            <a:avLst/>
          </a:prstGeom>
          <a:noFill/>
          <a:ln/>
        </p:spPr>
        <p:txBody>
          <a:bodyPr wrap="square" rtlCol="0" anchor="ctr"/>
          <a:lstStyle/>
          <a:p>
            <a:pPr indent="0" marL="0">
              <a:buNone/>
            </a:pPr>
            <a:r>
              <a:rPr lang="en-US" sz="3400" b="1" dirty="0">
                <a:solidFill>
                  <a:srgbClr val="0F172A"/>
                </a:solidFill>
                <a:latin typeface="Calibri" pitchFamily="34" charset="0"/>
                <a:ea typeface="Calibri" pitchFamily="34" charset="-122"/>
                <a:cs typeface="Calibri" pitchFamily="34" charset="-120"/>
              </a:rPr>
              <a:t>What modelling uniquely gives you</a:t>
            </a:r>
            <a:endParaRPr lang="en-US" sz="3400" dirty="0"/>
          </a:p>
        </p:txBody>
      </p:sp>
      <p:sp>
        <p:nvSpPr>
          <p:cNvPr id="4" name="Shape 2"/>
          <p:cNvSpPr/>
          <p:nvPr/>
        </p:nvSpPr>
        <p:spPr>
          <a:xfrm>
            <a:off x="685800" y="1024128"/>
            <a:ext cx="10820095" cy="0"/>
          </a:xfrm>
          <a:prstGeom prst="line">
            <a:avLst/>
          </a:prstGeom>
          <a:noFill/>
          <a:ln w="12700">
            <a:solidFill>
              <a:srgbClr val="E5E7EB"/>
            </a:solidFill>
            <a:prstDash val="solid"/>
          </a:ln>
        </p:spPr>
      </p:sp>
      <p:sp>
        <p:nvSpPr>
          <p:cNvPr id="5" name="Text 3"/>
          <p:cNvSpPr/>
          <p:nvPr/>
        </p:nvSpPr>
        <p:spPr>
          <a:xfrm>
            <a:off x="960120" y="1325880"/>
            <a:ext cx="10271455" cy="5303520"/>
          </a:xfrm>
          <a:prstGeom prst="rect">
            <a:avLst/>
          </a:prstGeom>
          <a:noFill/>
          <a:ln/>
        </p:spPr>
        <p:txBody>
          <a:bodyPr wrap="square" rtlCol="0" anchor="t"/>
          <a:lstStyle/>
          <a:p>
            <a:pPr marL="292100" indent="-292100">
              <a:lnSpc>
                <a:spcPct val="115000"/>
              </a:lnSpc>
              <a:buSzPct val="100000"/>
              <a:buChar char="•"/>
            </a:pPr>
            <a:r>
              <a:rPr lang="en-US" sz="2500" dirty="0">
                <a:solidFill>
                  <a:srgbClr val="111827"/>
                </a:solidFill>
                <a:latin typeface="Calibri" pitchFamily="34" charset="0"/>
                <a:ea typeface="Calibri" pitchFamily="34" charset="-122"/>
                <a:cs typeface="Calibri" pitchFamily="34" charset="-120"/>
              </a:rPr>
              <a:t>Mechanistic explanations (not only descriptive stats)</a:t>
            </a:r>
            <a:endParaRPr lang="en-US" sz="2500" dirty="0"/>
          </a:p>
          <a:p>
            <a:pPr marL="292100" indent="-292100">
              <a:lnSpc>
                <a:spcPct val="115000"/>
              </a:lnSpc>
              <a:buSzPct val="100000"/>
              <a:buChar char="•"/>
            </a:pPr>
            <a:r>
              <a:rPr lang="en-US" sz="2500" dirty="0">
                <a:solidFill>
                  <a:srgbClr val="111827"/>
                </a:solidFill>
                <a:latin typeface="Calibri" pitchFamily="34" charset="0"/>
                <a:ea typeface="Calibri" pitchFamily="34" charset="-122"/>
                <a:cs typeface="Calibri" pitchFamily="34" charset="-120"/>
              </a:rPr>
              <a:t>Quantitative predictions (trial-by-trial, not just means)</a:t>
            </a:r>
            <a:endParaRPr lang="en-US" sz="2500" dirty="0"/>
          </a:p>
          <a:p>
            <a:pPr marL="292100" indent="-292100">
              <a:lnSpc>
                <a:spcPct val="115000"/>
              </a:lnSpc>
              <a:buSzPct val="100000"/>
              <a:buChar char="•"/>
            </a:pPr>
            <a:r>
              <a:rPr lang="en-US" sz="2500" dirty="0">
                <a:solidFill>
                  <a:srgbClr val="111827"/>
                </a:solidFill>
                <a:latin typeface="Calibri" pitchFamily="34" charset="0"/>
                <a:ea typeface="Calibri" pitchFamily="34" charset="-122"/>
                <a:cs typeface="Calibri" pitchFamily="34" charset="-120"/>
              </a:rPr>
              <a:t>Model comparison (Model A vs Model B)</a:t>
            </a:r>
            <a:endParaRPr lang="en-US" sz="2500" dirty="0"/>
          </a:p>
          <a:p>
            <a:pPr marL="292100" indent="-292100">
              <a:lnSpc>
                <a:spcPct val="115000"/>
              </a:lnSpc>
              <a:buSzPct val="100000"/>
              <a:buChar char="•"/>
            </a:pPr>
            <a:r>
              <a:rPr lang="en-US" sz="2500" dirty="0">
                <a:solidFill>
                  <a:srgbClr val="111827"/>
                </a:solidFill>
                <a:latin typeface="Calibri" pitchFamily="34" charset="0"/>
                <a:ea typeface="Calibri" pitchFamily="34" charset="-122"/>
                <a:cs typeface="Calibri" pitchFamily="34" charset="-120"/>
              </a:rPr>
              <a:t>Reuse public data (fast, ethical, reproducible)</a:t>
            </a:r>
            <a:endParaRPr lang="en-US" sz="2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D06A7A"/>
          </a:solidFill>
          <a:ln w="12700">
            <a:noFill/>
            <a:prstDash val="solid"/>
          </a:ln>
        </p:spPr>
      </p:sp>
      <p:sp>
        <p:nvSpPr>
          <p:cNvPr id="3" name="Text 1"/>
          <p:cNvSpPr/>
          <p:nvPr/>
        </p:nvSpPr>
        <p:spPr>
          <a:xfrm>
            <a:off x="685800" y="365760"/>
            <a:ext cx="10820095" cy="548640"/>
          </a:xfrm>
          <a:prstGeom prst="rect">
            <a:avLst/>
          </a:prstGeom>
          <a:noFill/>
          <a:ln/>
        </p:spPr>
        <p:txBody>
          <a:bodyPr wrap="square" rtlCol="0" anchor="ctr"/>
          <a:lstStyle/>
          <a:p>
            <a:pPr indent="0" marL="0">
              <a:buNone/>
            </a:pPr>
            <a:r>
              <a:rPr lang="en-US" sz="3400" b="1" dirty="0">
                <a:solidFill>
                  <a:srgbClr val="0F172A"/>
                </a:solidFill>
                <a:latin typeface="Calibri" pitchFamily="34" charset="0"/>
                <a:ea typeface="Calibri" pitchFamily="34" charset="-122"/>
                <a:cs typeface="Calibri" pitchFamily="34" charset="-120"/>
              </a:rPr>
              <a:t>The modelling loop (one diagram)</a:t>
            </a:r>
            <a:endParaRPr lang="en-US" sz="3400" dirty="0"/>
          </a:p>
        </p:txBody>
      </p:sp>
      <p:sp>
        <p:nvSpPr>
          <p:cNvPr id="4" name="Shape 2"/>
          <p:cNvSpPr/>
          <p:nvPr/>
        </p:nvSpPr>
        <p:spPr>
          <a:xfrm>
            <a:off x="685800" y="1024128"/>
            <a:ext cx="10820095" cy="0"/>
          </a:xfrm>
          <a:prstGeom prst="line">
            <a:avLst/>
          </a:prstGeom>
          <a:noFill/>
          <a:ln w="12700">
            <a:solidFill>
              <a:srgbClr val="E5E7EB"/>
            </a:solidFill>
            <a:prstDash val="solid"/>
          </a:ln>
        </p:spPr>
      </p:sp>
      <p:sp>
        <p:nvSpPr>
          <p:cNvPr id="5" name="Text 3"/>
          <p:cNvSpPr/>
          <p:nvPr/>
        </p:nvSpPr>
        <p:spPr>
          <a:xfrm>
            <a:off x="960120" y="1417320"/>
            <a:ext cx="10271455" cy="5303520"/>
          </a:xfrm>
          <a:prstGeom prst="rect">
            <a:avLst/>
          </a:prstGeom>
          <a:noFill/>
          <a:ln/>
        </p:spPr>
        <p:txBody>
          <a:bodyPr wrap="square" rtlCol="0" anchor="t"/>
          <a:lstStyle/>
          <a:p>
            <a:pPr marL="317500" indent="-317500">
              <a:lnSpc>
                <a:spcPct val="120000"/>
              </a:lnSpc>
              <a:buSzPct val="100000"/>
              <a:buChar char="•"/>
            </a:pPr>
            <a:r>
              <a:rPr lang="en-US" sz="2800" dirty="0">
                <a:solidFill>
                  <a:srgbClr val="111827"/>
                </a:solidFill>
                <a:latin typeface="Calibri" pitchFamily="34" charset="0"/>
                <a:ea typeface="Calibri" pitchFamily="34" charset="-122"/>
                <a:cs typeface="Calibri" pitchFamily="34" charset="-120"/>
              </a:rPr>
              <a:t>Specify model</a:t>
            </a:r>
            <a:endParaRPr lang="en-US" sz="2800" dirty="0"/>
          </a:p>
          <a:p>
            <a:pPr marL="317500" indent="-317500">
              <a:lnSpc>
                <a:spcPct val="120000"/>
              </a:lnSpc>
              <a:buSzPct val="100000"/>
              <a:buChar char="•"/>
            </a:pPr>
            <a:r>
              <a:rPr lang="en-US" sz="2800" dirty="0">
                <a:solidFill>
                  <a:srgbClr val="111827"/>
                </a:solidFill>
                <a:latin typeface="Calibri" pitchFamily="34" charset="0"/>
                <a:ea typeface="Calibri" pitchFamily="34" charset="-122"/>
                <a:cs typeface="Calibri" pitchFamily="34" charset="-120"/>
              </a:rPr>
              <a:t>Simulate behaviour</a:t>
            </a:r>
            <a:endParaRPr lang="en-US" sz="2800" dirty="0"/>
          </a:p>
          <a:p>
            <a:pPr marL="317500" indent="-317500">
              <a:lnSpc>
                <a:spcPct val="120000"/>
              </a:lnSpc>
              <a:buSzPct val="100000"/>
              <a:buChar char="•"/>
            </a:pPr>
            <a:r>
              <a:rPr lang="en-US" sz="2800" dirty="0">
                <a:solidFill>
                  <a:srgbClr val="111827"/>
                </a:solidFill>
                <a:latin typeface="Calibri" pitchFamily="34" charset="0"/>
                <a:ea typeface="Calibri" pitchFamily="34" charset="-122"/>
                <a:cs typeface="Calibri" pitchFamily="34" charset="-120"/>
              </a:rPr>
              <a:t>Fit parameters to data</a:t>
            </a:r>
            <a:endParaRPr lang="en-US" sz="2800" dirty="0"/>
          </a:p>
          <a:p>
            <a:pPr marL="317500" indent="-317500">
              <a:lnSpc>
                <a:spcPct val="120000"/>
              </a:lnSpc>
              <a:buSzPct val="100000"/>
              <a:buChar char="•"/>
            </a:pPr>
            <a:r>
              <a:rPr lang="en-US" sz="2800" dirty="0">
                <a:solidFill>
                  <a:srgbClr val="111827"/>
                </a:solidFill>
                <a:latin typeface="Calibri" pitchFamily="34" charset="0"/>
                <a:ea typeface="Calibri" pitchFamily="34" charset="-122"/>
                <a:cs typeface="Calibri" pitchFamily="34" charset="-120"/>
              </a:rPr>
              <a:t>Compare models</a:t>
            </a:r>
            <a:endParaRPr lang="en-US" sz="2800" dirty="0"/>
          </a:p>
          <a:p>
            <a:pPr marL="317500" indent="-317500">
              <a:lnSpc>
                <a:spcPct val="120000"/>
              </a:lnSpc>
              <a:buSzPct val="100000"/>
              <a:buChar char="•"/>
            </a:pPr>
            <a:r>
              <a:rPr lang="en-US" sz="2800" dirty="0">
                <a:solidFill>
                  <a:srgbClr val="111827"/>
                </a:solidFill>
                <a:latin typeface="Calibri" pitchFamily="34" charset="0"/>
                <a:ea typeface="Calibri" pitchFamily="34" charset="-122"/>
                <a:cs typeface="Calibri" pitchFamily="34" charset="-120"/>
              </a:rPr>
              <a:t>Interpret + iterate</a:t>
            </a:r>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D06A7A"/>
          </a:solidFill>
          <a:ln w="12700">
            <a:noFill/>
            <a:prstDash val="solid"/>
          </a:ln>
        </p:spPr>
      </p:sp>
      <p:sp>
        <p:nvSpPr>
          <p:cNvPr id="3" name="Text 1"/>
          <p:cNvSpPr/>
          <p:nvPr/>
        </p:nvSpPr>
        <p:spPr>
          <a:xfrm>
            <a:off x="685800" y="365760"/>
            <a:ext cx="10820095" cy="548640"/>
          </a:xfrm>
          <a:prstGeom prst="rect">
            <a:avLst/>
          </a:prstGeom>
          <a:noFill/>
          <a:ln/>
        </p:spPr>
        <p:txBody>
          <a:bodyPr wrap="square" rtlCol="0" anchor="ctr"/>
          <a:lstStyle/>
          <a:p>
            <a:pPr indent="0" marL="0">
              <a:buNone/>
            </a:pPr>
            <a:r>
              <a:rPr lang="en-US" sz="3400" b="1" dirty="0">
                <a:solidFill>
                  <a:srgbClr val="0F172A"/>
                </a:solidFill>
                <a:latin typeface="Calibri" pitchFamily="34" charset="0"/>
                <a:ea typeface="Calibri" pitchFamily="34" charset="-122"/>
                <a:cs typeface="Calibri" pitchFamily="34" charset="-120"/>
              </a:rPr>
              <a:t>The GAME protocol (our lab scaffold)</a:t>
            </a:r>
            <a:endParaRPr lang="en-US" sz="3400" dirty="0"/>
          </a:p>
        </p:txBody>
      </p:sp>
      <p:sp>
        <p:nvSpPr>
          <p:cNvPr id="4" name="Shape 2"/>
          <p:cNvSpPr/>
          <p:nvPr/>
        </p:nvSpPr>
        <p:spPr>
          <a:xfrm>
            <a:off x="685800" y="1024128"/>
            <a:ext cx="10820095" cy="0"/>
          </a:xfrm>
          <a:prstGeom prst="line">
            <a:avLst/>
          </a:prstGeom>
          <a:noFill/>
          <a:ln w="12700">
            <a:solidFill>
              <a:srgbClr val="E5E7EB"/>
            </a:solidFill>
            <a:prstDash val="solid"/>
          </a:ln>
        </p:spPr>
      </p:sp>
      <p:sp>
        <p:nvSpPr>
          <p:cNvPr id="5" name="Text 3"/>
          <p:cNvSpPr/>
          <p:nvPr/>
        </p:nvSpPr>
        <p:spPr>
          <a:xfrm>
            <a:off x="960120" y="1325880"/>
            <a:ext cx="10271455" cy="5303520"/>
          </a:xfrm>
          <a:prstGeom prst="rect">
            <a:avLst/>
          </a:prstGeom>
          <a:noFill/>
          <a:ln/>
        </p:spPr>
        <p:txBody>
          <a:bodyPr wrap="square" rtlCol="0" anchor="t"/>
          <a:lstStyle/>
          <a:p>
            <a:pPr marL="279400" indent="-279400">
              <a:lnSpc>
                <a:spcPct val="115000"/>
              </a:lnSpc>
              <a:buSzPct val="100000"/>
              <a:buChar char="•"/>
            </a:pPr>
            <a:r>
              <a:rPr lang="en-US" sz="2400" dirty="0">
                <a:solidFill>
                  <a:srgbClr val="111827"/>
                </a:solidFill>
                <a:latin typeface="Calibri" pitchFamily="34" charset="0"/>
                <a:ea typeface="Calibri" pitchFamily="34" charset="-122"/>
                <a:cs typeface="Calibri" pitchFamily="34" charset="-120"/>
              </a:rPr>
              <a:t>G — Goals: what is being optimised and why?</a:t>
            </a:r>
            <a:endParaRPr lang="en-US" sz="2400" dirty="0"/>
          </a:p>
          <a:p>
            <a:pPr marL="279400" indent="-279400">
              <a:lnSpc>
                <a:spcPct val="115000"/>
              </a:lnSpc>
              <a:buSzPct val="100000"/>
              <a:buChar char="•"/>
            </a:pPr>
            <a:r>
              <a:rPr lang="en-US" sz="2400" dirty="0">
                <a:solidFill>
                  <a:srgbClr val="111827"/>
                </a:solidFill>
                <a:latin typeface="Calibri" pitchFamily="34" charset="0"/>
                <a:ea typeface="Calibri" pitchFamily="34" charset="-122"/>
                <a:cs typeface="Calibri" pitchFamily="34" charset="-120"/>
              </a:rPr>
              <a:t>A — Algorithms: what internal variables + update rules?</a:t>
            </a:r>
            <a:endParaRPr lang="en-US" sz="2400" dirty="0"/>
          </a:p>
          <a:p>
            <a:pPr marL="279400" indent="-279400">
              <a:lnSpc>
                <a:spcPct val="115000"/>
              </a:lnSpc>
              <a:buSzPct val="100000"/>
              <a:buChar char="•"/>
            </a:pPr>
            <a:r>
              <a:rPr lang="en-US" sz="2400" dirty="0">
                <a:solidFill>
                  <a:srgbClr val="111827"/>
                </a:solidFill>
                <a:latin typeface="Calibri" pitchFamily="34" charset="0"/>
                <a:ea typeface="Calibri" pitchFamily="34" charset="-122"/>
                <a:cs typeface="Calibri" pitchFamily="34" charset="-120"/>
              </a:rPr>
              <a:t>M — Measurements: what data + what fit metrics?</a:t>
            </a:r>
            <a:endParaRPr lang="en-US" sz="2400" dirty="0"/>
          </a:p>
          <a:p>
            <a:pPr marL="279400" indent="-279400">
              <a:lnSpc>
                <a:spcPct val="115000"/>
              </a:lnSpc>
              <a:buSzPct val="100000"/>
              <a:buChar char="•"/>
            </a:pPr>
            <a:r>
              <a:rPr lang="en-US" sz="2400" dirty="0">
                <a:solidFill>
                  <a:srgbClr val="111827"/>
                </a:solidFill>
                <a:latin typeface="Calibri" pitchFamily="34" charset="0"/>
                <a:ea typeface="Calibri" pitchFamily="34" charset="-122"/>
                <a:cs typeface="Calibri" pitchFamily="34" charset="-120"/>
              </a:rPr>
              <a:t>E — Evolution: what changed after checks, and why?</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D06A7A"/>
          </a:solidFill>
          <a:ln w="12700">
            <a:noFill/>
            <a:prstDash val="solid"/>
          </a:ln>
        </p:spPr>
      </p:sp>
      <p:sp>
        <p:nvSpPr>
          <p:cNvPr id="3" name="Text 1"/>
          <p:cNvSpPr/>
          <p:nvPr/>
        </p:nvSpPr>
        <p:spPr>
          <a:xfrm>
            <a:off x="685800" y="365760"/>
            <a:ext cx="10820095" cy="548640"/>
          </a:xfrm>
          <a:prstGeom prst="rect">
            <a:avLst/>
          </a:prstGeom>
          <a:noFill/>
          <a:ln/>
        </p:spPr>
        <p:txBody>
          <a:bodyPr wrap="square" rtlCol="0" anchor="ctr"/>
          <a:lstStyle/>
          <a:p>
            <a:pPr indent="0" marL="0">
              <a:buNone/>
            </a:pPr>
            <a:r>
              <a:rPr lang="en-US" sz="3400" b="1" dirty="0">
                <a:solidFill>
                  <a:srgbClr val="0F172A"/>
                </a:solidFill>
                <a:latin typeface="Calibri" pitchFamily="34" charset="0"/>
                <a:ea typeface="Calibri" pitchFamily="34" charset="-122"/>
                <a:cs typeface="Calibri" pitchFamily="34" charset="-120"/>
              </a:rPr>
              <a:t>Worked example</a:t>
            </a:r>
            <a:endParaRPr lang="en-US" sz="3400" dirty="0"/>
          </a:p>
        </p:txBody>
      </p:sp>
      <p:sp>
        <p:nvSpPr>
          <p:cNvPr id="4" name="Shape 2"/>
          <p:cNvSpPr/>
          <p:nvPr/>
        </p:nvSpPr>
        <p:spPr>
          <a:xfrm>
            <a:off x="685800" y="1024128"/>
            <a:ext cx="10820095" cy="0"/>
          </a:xfrm>
          <a:prstGeom prst="line">
            <a:avLst/>
          </a:prstGeom>
          <a:noFill/>
          <a:ln w="12700">
            <a:solidFill>
              <a:srgbClr val="E5E7EB"/>
            </a:solidFill>
            <a:prstDash val="solid"/>
          </a:ln>
        </p:spPr>
      </p:sp>
      <p:sp>
        <p:nvSpPr>
          <p:cNvPr id="5" name="Text 3"/>
          <p:cNvSpPr/>
          <p:nvPr/>
        </p:nvSpPr>
        <p:spPr>
          <a:xfrm>
            <a:off x="960120" y="1417320"/>
            <a:ext cx="10271455" cy="5303520"/>
          </a:xfrm>
          <a:prstGeom prst="rect">
            <a:avLst/>
          </a:prstGeom>
          <a:noFill/>
          <a:ln/>
        </p:spPr>
        <p:txBody>
          <a:bodyPr wrap="square" rtlCol="0" anchor="t"/>
          <a:lstStyle/>
          <a:p>
            <a:pPr marL="292100" indent="-292100">
              <a:lnSpc>
                <a:spcPct val="115000"/>
              </a:lnSpc>
              <a:buSzPct val="100000"/>
              <a:buChar char="•"/>
            </a:pPr>
            <a:r>
              <a:rPr lang="en-US" sz="2600" dirty="0">
                <a:solidFill>
                  <a:srgbClr val="111827"/>
                </a:solidFill>
                <a:latin typeface="Calibri" pitchFamily="34" charset="0"/>
                <a:ea typeface="Calibri" pitchFamily="34" charset="-122"/>
                <a:cs typeface="Calibri" pitchFamily="34" charset="-120"/>
              </a:rPr>
              <a:t>Model family: prediction-error learning</a:t>
            </a:r>
            <a:endParaRPr lang="en-US" sz="2600" dirty="0"/>
          </a:p>
          <a:p>
            <a:pPr marL="292100" indent="-292100">
              <a:lnSpc>
                <a:spcPct val="115000"/>
              </a:lnSpc>
              <a:buSzPct val="100000"/>
              <a:buChar char="•"/>
            </a:pPr>
            <a:r>
              <a:rPr lang="en-US" sz="2600" dirty="0">
                <a:solidFill>
                  <a:srgbClr val="111827"/>
                </a:solidFill>
                <a:latin typeface="Calibri" pitchFamily="34" charset="0"/>
                <a:ea typeface="Calibri" pitchFamily="34" charset="-122"/>
                <a:cs typeface="Calibri" pitchFamily="34" charset="-120"/>
              </a:rPr>
              <a:t>One idea: update beliefs from surprise (delta-rule)</a:t>
            </a:r>
            <a:endParaRPr lang="en-US" sz="2600" dirty="0"/>
          </a:p>
          <a:p>
            <a:pPr marL="292100" indent="-292100">
              <a:lnSpc>
                <a:spcPct val="115000"/>
              </a:lnSpc>
              <a:buSzPct val="100000"/>
              <a:buChar char="•"/>
            </a:pPr>
            <a:r>
              <a:rPr lang="en-US" sz="2600" dirty="0">
                <a:solidFill>
                  <a:srgbClr val="111827"/>
                </a:solidFill>
                <a:latin typeface="Calibri" pitchFamily="34" charset="0"/>
                <a:ea typeface="Calibri" pitchFamily="34" charset="-122"/>
                <a:cs typeface="Calibri" pitchFamily="34" charset="-120"/>
              </a:rPr>
              <a:t>Two knobs: α (learning rate), β (choice consistency)</a:t>
            </a:r>
            <a:endParaRPr lang="en-US"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D06A7A"/>
          </a:solidFill>
          <a:ln w="12700">
            <a:noFill/>
            <a:prstDash val="solid"/>
          </a:ln>
        </p:spPr>
      </p:sp>
      <p:sp>
        <p:nvSpPr>
          <p:cNvPr id="3" name="Text 1"/>
          <p:cNvSpPr/>
          <p:nvPr/>
        </p:nvSpPr>
        <p:spPr>
          <a:xfrm>
            <a:off x="685800" y="365760"/>
            <a:ext cx="10820095" cy="548640"/>
          </a:xfrm>
          <a:prstGeom prst="rect">
            <a:avLst/>
          </a:prstGeom>
          <a:noFill/>
          <a:ln/>
        </p:spPr>
        <p:txBody>
          <a:bodyPr wrap="square" rtlCol="0" anchor="ctr"/>
          <a:lstStyle/>
          <a:p>
            <a:pPr indent="0" marL="0">
              <a:buNone/>
            </a:pPr>
            <a:r>
              <a:rPr lang="en-US" sz="3400" b="1" dirty="0">
                <a:solidFill>
                  <a:srgbClr val="0F172A"/>
                </a:solidFill>
                <a:latin typeface="Calibri" pitchFamily="34" charset="0"/>
                <a:ea typeface="Calibri" pitchFamily="34" charset="-122"/>
                <a:cs typeface="Calibri" pitchFamily="34" charset="-120"/>
              </a:rPr>
              <a:t>DEMO: Where everything lives (GitHub lab repo tour)</a:t>
            </a:r>
            <a:endParaRPr lang="en-US" sz="3400" dirty="0"/>
          </a:p>
        </p:txBody>
      </p:sp>
      <p:sp>
        <p:nvSpPr>
          <p:cNvPr id="4" name="Shape 2"/>
          <p:cNvSpPr/>
          <p:nvPr/>
        </p:nvSpPr>
        <p:spPr>
          <a:xfrm>
            <a:off x="685800" y="1024128"/>
            <a:ext cx="10820095" cy="0"/>
          </a:xfrm>
          <a:prstGeom prst="line">
            <a:avLst/>
          </a:prstGeom>
          <a:noFill/>
          <a:ln w="12700">
            <a:solidFill>
              <a:srgbClr val="E5E7EB"/>
            </a:solidFill>
            <a:prstDash val="solid"/>
          </a:ln>
        </p:spPr>
      </p:sp>
      <p:sp>
        <p:nvSpPr>
          <p:cNvPr id="5" name="Text 3"/>
          <p:cNvSpPr/>
          <p:nvPr/>
        </p:nvSpPr>
        <p:spPr>
          <a:xfrm>
            <a:off x="960120" y="1261872"/>
            <a:ext cx="10271455" cy="457200"/>
          </a:xfrm>
          <a:prstGeom prst="rect">
            <a:avLst/>
          </a:prstGeom>
          <a:noFill/>
          <a:ln/>
        </p:spPr>
        <p:txBody>
          <a:bodyPr wrap="square"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This repo is the template you will reproduce</a:t>
            </a:r>
            <a:endParaRPr lang="en-US" sz="2200" dirty="0"/>
          </a:p>
        </p:txBody>
      </p:sp>
      <p:sp>
        <p:nvSpPr>
          <p:cNvPr id="6" name="Text 4"/>
          <p:cNvSpPr/>
          <p:nvPr/>
        </p:nvSpPr>
        <p:spPr>
          <a:xfrm>
            <a:off x="960120" y="1874520"/>
            <a:ext cx="10271455" cy="5303520"/>
          </a:xfrm>
          <a:prstGeom prst="rect">
            <a:avLst/>
          </a:prstGeom>
          <a:noFill/>
          <a:ln/>
        </p:spPr>
        <p:txBody>
          <a:bodyPr wrap="square" rtlCol="0" anchor="t"/>
          <a:lstStyle/>
          <a:p>
            <a:pPr marL="279400" indent="-279400">
              <a:lnSpc>
                <a:spcPct val="115000"/>
              </a:lnSpc>
              <a:buSzPct val="100000"/>
              <a:buChar char="•"/>
            </a:pPr>
            <a:r>
              <a:rPr lang="en-US" sz="2400" dirty="0">
                <a:solidFill>
                  <a:srgbClr val="111827"/>
                </a:solidFill>
                <a:latin typeface="Calibri" pitchFamily="34" charset="0"/>
                <a:ea typeface="Calibri" pitchFamily="34" charset="-122"/>
                <a:cs typeface="Calibri" pitchFamily="34" charset="-120"/>
              </a:rPr>
              <a:t>/docs/ — guides + worksheet</a:t>
            </a:r>
            <a:endParaRPr lang="en-US" sz="2400" dirty="0"/>
          </a:p>
          <a:p>
            <a:pPr marL="279400" indent="-279400">
              <a:lnSpc>
                <a:spcPct val="115000"/>
              </a:lnSpc>
              <a:buSzPct val="100000"/>
              <a:buChar char="•"/>
            </a:pPr>
            <a:r>
              <a:rPr lang="en-US" sz="2400" dirty="0">
                <a:solidFill>
                  <a:srgbClr val="111827"/>
                </a:solidFill>
                <a:latin typeface="Calibri" pitchFamily="34" charset="0"/>
                <a:ea typeface="Calibri" pitchFamily="34" charset="-122"/>
                <a:cs typeface="Calibri" pitchFamily="34" charset="-120"/>
              </a:rPr>
              <a:t>/notebooks/ — run-all demos</a:t>
            </a:r>
            <a:endParaRPr lang="en-US" sz="2400" dirty="0"/>
          </a:p>
          <a:p>
            <a:pPr marL="279400" indent="-279400">
              <a:lnSpc>
                <a:spcPct val="115000"/>
              </a:lnSpc>
              <a:buSzPct val="100000"/>
              <a:buChar char="•"/>
            </a:pPr>
            <a:r>
              <a:rPr lang="en-US" sz="2400" dirty="0">
                <a:solidFill>
                  <a:srgbClr val="111827"/>
                </a:solidFill>
                <a:latin typeface="Calibri" pitchFamily="34" charset="0"/>
                <a:ea typeface="Calibri" pitchFamily="34" charset="-122"/>
                <a:cs typeface="Calibri" pitchFamily="34" charset="-120"/>
              </a:rPr>
              <a:t>/data/ — datasets (or access notes)</a:t>
            </a:r>
            <a:endParaRPr lang="en-US" sz="2400" dirty="0"/>
          </a:p>
          <a:p>
            <a:pPr marL="279400" indent="-279400">
              <a:lnSpc>
                <a:spcPct val="115000"/>
              </a:lnSpc>
              <a:buSzPct val="100000"/>
              <a:buChar char="•"/>
            </a:pPr>
            <a:r>
              <a:rPr lang="en-US" sz="2400" dirty="0">
                <a:solidFill>
                  <a:srgbClr val="111827"/>
                </a:solidFill>
                <a:latin typeface="Calibri" pitchFamily="34" charset="0"/>
                <a:ea typeface="Calibri" pitchFamily="34" charset="-122"/>
                <a:cs typeface="Calibri" pitchFamily="34" charset="-120"/>
              </a:rPr>
              <a:t>/results/ — figures + tables</a:t>
            </a:r>
            <a:endParaRPr lang="en-US" sz="2400" dirty="0"/>
          </a:p>
          <a:p>
            <a:pPr marL="279400" indent="-279400">
              <a:lnSpc>
                <a:spcPct val="115000"/>
              </a:lnSpc>
              <a:buSzPct val="100000"/>
              <a:buChar char="•"/>
            </a:pPr>
            <a:r>
              <a:rPr lang="en-US" sz="2400" dirty="0">
                <a:solidFill>
                  <a:srgbClr val="111827"/>
                </a:solidFill>
                <a:latin typeface="Calibri" pitchFamily="34" charset="0"/>
                <a:ea typeface="Calibri" pitchFamily="34" charset="-122"/>
                <a:cs typeface="Calibri" pitchFamily="34" charset="-120"/>
              </a:rPr>
              <a:t>/reports/ — write-up + prereg links</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D06A7A"/>
          </a:solidFill>
          <a:ln w="12700">
            <a:noFill/>
            <a:prstDash val="solid"/>
          </a:ln>
        </p:spPr>
      </p:sp>
      <p:sp>
        <p:nvSpPr>
          <p:cNvPr id="3" name="Text 1"/>
          <p:cNvSpPr/>
          <p:nvPr/>
        </p:nvSpPr>
        <p:spPr>
          <a:xfrm>
            <a:off x="685800" y="365760"/>
            <a:ext cx="10820095" cy="548640"/>
          </a:xfrm>
          <a:prstGeom prst="rect">
            <a:avLst/>
          </a:prstGeom>
          <a:noFill/>
          <a:ln/>
        </p:spPr>
        <p:txBody>
          <a:bodyPr wrap="square" rtlCol="0" anchor="ctr"/>
          <a:lstStyle/>
          <a:p>
            <a:pPr indent="0" marL="0">
              <a:buNone/>
            </a:pPr>
            <a:r>
              <a:rPr lang="en-US" sz="3400" b="1" dirty="0">
                <a:solidFill>
                  <a:srgbClr val="0F172A"/>
                </a:solidFill>
                <a:latin typeface="Calibri" pitchFamily="34" charset="0"/>
                <a:ea typeface="Calibri" pitchFamily="34" charset="-122"/>
                <a:cs typeface="Calibri" pitchFamily="34" charset="-120"/>
              </a:rPr>
              <a:t>Best practices</a:t>
            </a:r>
            <a:endParaRPr lang="en-US" sz="3400" dirty="0"/>
          </a:p>
        </p:txBody>
      </p:sp>
      <p:sp>
        <p:nvSpPr>
          <p:cNvPr id="4" name="Shape 2"/>
          <p:cNvSpPr/>
          <p:nvPr/>
        </p:nvSpPr>
        <p:spPr>
          <a:xfrm>
            <a:off x="685800" y="1024128"/>
            <a:ext cx="10820095" cy="0"/>
          </a:xfrm>
          <a:prstGeom prst="line">
            <a:avLst/>
          </a:prstGeom>
          <a:noFill/>
          <a:ln w="12700">
            <a:solidFill>
              <a:srgbClr val="E5E7EB"/>
            </a:solidFill>
            <a:prstDash val="solid"/>
          </a:ln>
        </p:spPr>
      </p:sp>
      <p:sp>
        <p:nvSpPr>
          <p:cNvPr id="5" name="Text 3"/>
          <p:cNvSpPr/>
          <p:nvPr/>
        </p:nvSpPr>
        <p:spPr>
          <a:xfrm>
            <a:off x="960120" y="1371600"/>
            <a:ext cx="10271455" cy="5303520"/>
          </a:xfrm>
          <a:prstGeom prst="rect">
            <a:avLst/>
          </a:prstGeom>
          <a:noFill/>
          <a:ln/>
        </p:spPr>
        <p:txBody>
          <a:bodyPr wrap="square" rtlCol="0" anchor="t"/>
          <a:lstStyle/>
          <a:p>
            <a:pPr marL="292100" indent="-292100">
              <a:lnSpc>
                <a:spcPct val="115000"/>
              </a:lnSpc>
              <a:buSzPct val="100000"/>
              <a:buChar char="•"/>
            </a:pPr>
            <a:r>
              <a:rPr lang="en-US" sz="2500" dirty="0">
                <a:solidFill>
                  <a:srgbClr val="111827"/>
                </a:solidFill>
                <a:latin typeface="Calibri" pitchFamily="34" charset="0"/>
                <a:ea typeface="Calibri" pitchFamily="34" charset="-122"/>
                <a:cs typeface="Calibri" pitchFamily="34" charset="-120"/>
              </a:rPr>
              <a:t>Simulate first (before touching real data)</a:t>
            </a:r>
            <a:endParaRPr lang="en-US" sz="2500" dirty="0"/>
          </a:p>
          <a:p>
            <a:pPr marL="292100" indent="-292100">
              <a:lnSpc>
                <a:spcPct val="115000"/>
              </a:lnSpc>
              <a:buSzPct val="100000"/>
              <a:buChar char="•"/>
            </a:pPr>
            <a:r>
              <a:rPr lang="en-US" sz="2500" dirty="0">
                <a:solidFill>
                  <a:srgbClr val="111827"/>
                </a:solidFill>
                <a:latin typeface="Calibri" pitchFamily="34" charset="0"/>
                <a:ea typeface="Calibri" pitchFamily="34" charset="-122"/>
                <a:cs typeface="Calibri" pitchFamily="34" charset="-120"/>
              </a:rPr>
              <a:t>Make predictions visible (behavioural signatures)</a:t>
            </a:r>
            <a:endParaRPr lang="en-US" sz="2500" dirty="0"/>
          </a:p>
          <a:p>
            <a:pPr marL="292100" indent="-292100">
              <a:lnSpc>
                <a:spcPct val="115000"/>
              </a:lnSpc>
              <a:buSzPct val="100000"/>
              <a:buChar char="•"/>
            </a:pPr>
            <a:r>
              <a:rPr lang="en-US" sz="2500" dirty="0">
                <a:solidFill>
                  <a:srgbClr val="111827"/>
                </a:solidFill>
                <a:latin typeface="Calibri" pitchFamily="34" charset="0"/>
                <a:ea typeface="Calibri" pitchFamily="34" charset="-122"/>
                <a:cs typeface="Calibri" pitchFamily="34" charset="-120"/>
              </a:rPr>
              <a:t>Fit ≠ predict (use held-out checks where possible)</a:t>
            </a:r>
            <a:endParaRPr lang="en-US" sz="2500" dirty="0"/>
          </a:p>
          <a:p>
            <a:pPr marL="292100" indent="-292100">
              <a:lnSpc>
                <a:spcPct val="115000"/>
              </a:lnSpc>
              <a:buSzPct val="100000"/>
              <a:buChar char="•"/>
            </a:pPr>
            <a:r>
              <a:rPr lang="en-US" sz="2500" dirty="0">
                <a:solidFill>
                  <a:srgbClr val="111827"/>
                </a:solidFill>
                <a:latin typeface="Calibri" pitchFamily="34" charset="0"/>
                <a:ea typeface="Calibri" pitchFamily="34" charset="-122"/>
                <a:cs typeface="Calibri" pitchFamily="34" charset="-120"/>
              </a:rPr>
              <a:t>Compare fairly (same data, clear metrics, sensible baselines)</a:t>
            </a:r>
            <a:endParaRPr lang="en-US" sz="2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D06A7A"/>
          </a:solidFill>
          <a:ln w="12700">
            <a:noFill/>
            <a:prstDash val="solid"/>
          </a:ln>
        </p:spPr>
      </p:sp>
      <p:sp>
        <p:nvSpPr>
          <p:cNvPr id="3" name="Text 1"/>
          <p:cNvSpPr/>
          <p:nvPr/>
        </p:nvSpPr>
        <p:spPr>
          <a:xfrm>
            <a:off x="685800" y="365760"/>
            <a:ext cx="10820095" cy="548640"/>
          </a:xfrm>
          <a:prstGeom prst="rect">
            <a:avLst/>
          </a:prstGeom>
          <a:noFill/>
          <a:ln/>
        </p:spPr>
        <p:txBody>
          <a:bodyPr wrap="square" rtlCol="0" anchor="ctr"/>
          <a:lstStyle/>
          <a:p>
            <a:pPr indent="0" marL="0">
              <a:buNone/>
            </a:pPr>
            <a:r>
              <a:rPr lang="en-US" sz="3400" b="1" dirty="0">
                <a:solidFill>
                  <a:srgbClr val="0F172A"/>
                </a:solidFill>
                <a:latin typeface="Calibri" pitchFamily="34" charset="0"/>
                <a:ea typeface="Calibri" pitchFamily="34" charset="-122"/>
                <a:cs typeface="Calibri" pitchFamily="34" charset="-120"/>
              </a:rPr>
              <a:t>Best practice: reproducibility, verification, validation</a:t>
            </a:r>
            <a:endParaRPr lang="en-US" sz="3400" dirty="0"/>
          </a:p>
        </p:txBody>
      </p:sp>
      <p:sp>
        <p:nvSpPr>
          <p:cNvPr id="4" name="Shape 2"/>
          <p:cNvSpPr/>
          <p:nvPr/>
        </p:nvSpPr>
        <p:spPr>
          <a:xfrm>
            <a:off x="685800" y="1024128"/>
            <a:ext cx="10820095" cy="0"/>
          </a:xfrm>
          <a:prstGeom prst="line">
            <a:avLst/>
          </a:prstGeom>
          <a:noFill/>
          <a:ln w="12700">
            <a:solidFill>
              <a:srgbClr val="E5E7EB"/>
            </a:solidFill>
            <a:prstDash val="solid"/>
          </a:ln>
        </p:spPr>
      </p:sp>
      <p:sp>
        <p:nvSpPr>
          <p:cNvPr id="5" name="Text 3"/>
          <p:cNvSpPr/>
          <p:nvPr/>
        </p:nvSpPr>
        <p:spPr>
          <a:xfrm>
            <a:off x="960120" y="1261872"/>
            <a:ext cx="10271455" cy="5303520"/>
          </a:xfrm>
          <a:prstGeom prst="rect">
            <a:avLst/>
          </a:prstGeom>
          <a:noFill/>
          <a:ln/>
        </p:spPr>
        <p:txBody>
          <a:bodyPr wrap="square" rtlCol="0" anchor="t"/>
          <a:lstStyle/>
          <a:p>
            <a:pPr marL="254000" indent="-254000">
              <a:lnSpc>
                <a:spcPct val="115000"/>
              </a:lnSpc>
              <a:buSzPct val="100000"/>
              <a:buChar char="•"/>
            </a:pPr>
            <a:r>
              <a:rPr lang="en-US" sz="2200" dirty="0">
                <a:solidFill>
                  <a:srgbClr val="111827"/>
                </a:solidFill>
                <a:latin typeface="Calibri" pitchFamily="34" charset="0"/>
                <a:ea typeface="Calibri" pitchFamily="34" charset="-122"/>
                <a:cs typeface="Calibri" pitchFamily="34" charset="-120"/>
              </a:rPr>
              <a:t>Reproducibility first: rebuildable model spec (not just “code re-runs”)</a:t>
            </a:r>
            <a:endParaRPr lang="en-US" sz="2200" dirty="0"/>
          </a:p>
          <a:p>
            <a:pPr marL="254000" indent="-254000">
              <a:lnSpc>
                <a:spcPct val="115000"/>
              </a:lnSpc>
              <a:buSzPct val="100000"/>
              <a:buChar char="•"/>
            </a:pPr>
            <a:r>
              <a:rPr lang="en-US" sz="2200" dirty="0">
                <a:solidFill>
                  <a:srgbClr val="111827"/>
                </a:solidFill>
                <a:latin typeface="Calibri" pitchFamily="34" charset="0"/>
                <a:ea typeface="Calibri" pitchFamily="34" charset="-122"/>
                <a:cs typeface="Calibri" pitchFamily="34" charset="-120"/>
              </a:rPr>
              <a:t>Verification vs validation: sanity checks + correspondence to data</a:t>
            </a:r>
            <a:endParaRPr lang="en-US" sz="2200" dirty="0"/>
          </a:p>
          <a:p>
            <a:pPr marL="254000" indent="-254000">
              <a:lnSpc>
                <a:spcPct val="115000"/>
              </a:lnSpc>
              <a:buSzPct val="100000"/>
              <a:buChar char="•"/>
            </a:pPr>
            <a:r>
              <a:rPr lang="en-US" sz="2200" dirty="0">
                <a:solidFill>
                  <a:srgbClr val="111827"/>
                </a:solidFill>
                <a:latin typeface="Calibri" pitchFamily="34" charset="0"/>
                <a:ea typeface="Calibri" pitchFamily="34" charset="-122"/>
                <a:cs typeface="Calibri" pitchFamily="34" charset="-120"/>
              </a:rPr>
              <a:t>Paper vs repo: spec in the write-up, artefacts in GitHub/OSF</a:t>
            </a:r>
            <a:endParaRPr lang="en-US" sz="2200" dirty="0"/>
          </a:p>
          <a:p>
            <a:pPr marL="254000" indent="-254000">
              <a:lnSpc>
                <a:spcPct val="115000"/>
              </a:lnSpc>
              <a:buSzPct val="100000"/>
              <a:buChar char="•"/>
            </a:pPr>
            <a:r>
              <a:rPr lang="en-US" sz="2200" dirty="0">
                <a:solidFill>
                  <a:srgbClr val="111827"/>
                </a:solidFill>
                <a:latin typeface="Calibri" pitchFamily="34" charset="0"/>
                <a:ea typeface="Calibri" pitchFamily="34" charset="-122"/>
                <a:cs typeface="Calibri" pitchFamily="34" charset="-120"/>
              </a:rPr>
              <a:t>Report “all and only relevant detail” (no missing equations/assumptions)</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D06A7A"/>
          </a:solidFill>
          <a:ln w="12700">
            <a:noFill/>
            <a:prstDash val="solid"/>
          </a:ln>
        </p:spPr>
      </p:sp>
      <p:sp>
        <p:nvSpPr>
          <p:cNvPr id="3" name="Text 1"/>
          <p:cNvSpPr/>
          <p:nvPr/>
        </p:nvSpPr>
        <p:spPr>
          <a:xfrm>
            <a:off x="685800" y="365760"/>
            <a:ext cx="10820095" cy="548640"/>
          </a:xfrm>
          <a:prstGeom prst="rect">
            <a:avLst/>
          </a:prstGeom>
          <a:noFill/>
          <a:ln/>
        </p:spPr>
        <p:txBody>
          <a:bodyPr wrap="square" rtlCol="0" anchor="ctr"/>
          <a:lstStyle/>
          <a:p>
            <a:pPr indent="0" marL="0">
              <a:buNone/>
            </a:pPr>
            <a:r>
              <a:rPr lang="en-US" sz="3400" b="1" dirty="0">
                <a:solidFill>
                  <a:srgbClr val="0F172A"/>
                </a:solidFill>
                <a:latin typeface="Calibri" pitchFamily="34" charset="0"/>
                <a:ea typeface="Calibri" pitchFamily="34" charset="-122"/>
                <a:cs typeface="Calibri" pitchFamily="34" charset="-120"/>
              </a:rPr>
              <a:t>DEMO: the Colab workflow</a:t>
            </a:r>
            <a:endParaRPr lang="en-US" sz="3400" dirty="0"/>
          </a:p>
        </p:txBody>
      </p:sp>
      <p:sp>
        <p:nvSpPr>
          <p:cNvPr id="4" name="Shape 2"/>
          <p:cNvSpPr/>
          <p:nvPr/>
        </p:nvSpPr>
        <p:spPr>
          <a:xfrm>
            <a:off x="685800" y="1024128"/>
            <a:ext cx="10820095" cy="0"/>
          </a:xfrm>
          <a:prstGeom prst="line">
            <a:avLst/>
          </a:prstGeom>
          <a:noFill/>
          <a:ln w="12700">
            <a:solidFill>
              <a:srgbClr val="E5E7EB"/>
            </a:solidFill>
            <a:prstDash val="solid"/>
          </a:ln>
        </p:spPr>
      </p:sp>
      <p:sp>
        <p:nvSpPr>
          <p:cNvPr id="5" name="Text 3"/>
          <p:cNvSpPr/>
          <p:nvPr/>
        </p:nvSpPr>
        <p:spPr>
          <a:xfrm>
            <a:off x="960120" y="1261872"/>
            <a:ext cx="10271455" cy="457200"/>
          </a:xfrm>
          <a:prstGeom prst="rect">
            <a:avLst/>
          </a:prstGeom>
          <a:noFill/>
          <a:ln/>
        </p:spPr>
        <p:txBody>
          <a:bodyPr wrap="square"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Goal: anyone can click and reproduce your outputs</a:t>
            </a:r>
            <a:endParaRPr lang="en-US" sz="2200" dirty="0"/>
          </a:p>
        </p:txBody>
      </p:sp>
      <p:sp>
        <p:nvSpPr>
          <p:cNvPr id="6" name="Text 4"/>
          <p:cNvSpPr/>
          <p:nvPr/>
        </p:nvSpPr>
        <p:spPr>
          <a:xfrm>
            <a:off x="960120" y="1920240"/>
            <a:ext cx="10271455" cy="5303520"/>
          </a:xfrm>
          <a:prstGeom prst="rect">
            <a:avLst/>
          </a:prstGeom>
          <a:noFill/>
          <a:ln/>
        </p:spPr>
        <p:txBody>
          <a:bodyPr wrap="square" rtlCol="0" anchor="t"/>
          <a:lstStyle/>
          <a:p>
            <a:pPr marL="317500" indent="-317500">
              <a:lnSpc>
                <a:spcPct val="125000"/>
              </a:lnSpc>
              <a:buSzPct val="100000"/>
              <a:buChar char="•"/>
            </a:pPr>
            <a:r>
              <a:rPr lang="en-US" sz="2800" dirty="0">
                <a:solidFill>
                  <a:srgbClr val="111827"/>
                </a:solidFill>
                <a:latin typeface="Calibri" pitchFamily="34" charset="0"/>
                <a:ea typeface="Calibri" pitchFamily="34" charset="-122"/>
                <a:cs typeface="Calibri" pitchFamily="34" charset="-120"/>
              </a:rPr>
              <a:t>clone repo</a:t>
            </a:r>
            <a:endParaRPr lang="en-US" sz="2800" dirty="0"/>
          </a:p>
          <a:p>
            <a:pPr marL="317500" indent="-317500">
              <a:lnSpc>
                <a:spcPct val="125000"/>
              </a:lnSpc>
              <a:buSzPct val="100000"/>
              <a:buChar char="•"/>
            </a:pPr>
            <a:r>
              <a:rPr lang="en-US" sz="2800" dirty="0">
                <a:solidFill>
                  <a:srgbClr val="111827"/>
                </a:solidFill>
                <a:latin typeface="Calibri" pitchFamily="34" charset="0"/>
                <a:ea typeface="Calibri" pitchFamily="34" charset="-122"/>
                <a:cs typeface="Calibri" pitchFamily="34" charset="-120"/>
              </a:rPr>
              <a:t>install requirements</a:t>
            </a:r>
            <a:endParaRPr lang="en-US" sz="2800" dirty="0"/>
          </a:p>
          <a:p>
            <a:pPr marL="317500" indent="-317500">
              <a:lnSpc>
                <a:spcPct val="125000"/>
              </a:lnSpc>
              <a:buSzPct val="100000"/>
              <a:buChar char="•"/>
            </a:pPr>
            <a:r>
              <a:rPr lang="en-US" sz="2800" dirty="0">
                <a:solidFill>
                  <a:srgbClr val="111827"/>
                </a:solidFill>
                <a:latin typeface="Calibri" pitchFamily="34" charset="0"/>
                <a:ea typeface="Calibri" pitchFamily="34" charset="-122"/>
                <a:cs typeface="Calibri" pitchFamily="34" charset="-120"/>
              </a:rPr>
              <a:t>run notebook → save outputs (/results/)</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D06A7A"/>
          </a:solidFill>
          <a:ln w="12700">
            <a:noFill/>
            <a:prstDash val="solid"/>
          </a:ln>
        </p:spPr>
      </p:sp>
      <p:sp>
        <p:nvSpPr>
          <p:cNvPr id="3" name="Text 1"/>
          <p:cNvSpPr/>
          <p:nvPr/>
        </p:nvSpPr>
        <p:spPr>
          <a:xfrm>
            <a:off x="685800" y="365760"/>
            <a:ext cx="10820095" cy="548640"/>
          </a:xfrm>
          <a:prstGeom prst="rect">
            <a:avLst/>
          </a:prstGeom>
          <a:noFill/>
          <a:ln/>
        </p:spPr>
        <p:txBody>
          <a:bodyPr wrap="square" rtlCol="0" anchor="ctr"/>
          <a:lstStyle/>
          <a:p>
            <a:pPr indent="0" marL="0">
              <a:buNone/>
            </a:pPr>
            <a:r>
              <a:rPr lang="en-US" sz="3400" b="1" dirty="0">
                <a:solidFill>
                  <a:srgbClr val="0F172A"/>
                </a:solidFill>
                <a:latin typeface="Calibri" pitchFamily="34" charset="0"/>
                <a:ea typeface="Calibri" pitchFamily="34" charset="-122"/>
                <a:cs typeface="Calibri" pitchFamily="34" charset="-120"/>
              </a:rPr>
              <a:t>What kinds of projects can you do?</a:t>
            </a:r>
            <a:endParaRPr lang="en-US" sz="3400" dirty="0"/>
          </a:p>
        </p:txBody>
      </p:sp>
      <p:sp>
        <p:nvSpPr>
          <p:cNvPr id="4" name="Shape 2"/>
          <p:cNvSpPr/>
          <p:nvPr/>
        </p:nvSpPr>
        <p:spPr>
          <a:xfrm>
            <a:off x="685800" y="1024128"/>
            <a:ext cx="10820095" cy="0"/>
          </a:xfrm>
          <a:prstGeom prst="line">
            <a:avLst/>
          </a:prstGeom>
          <a:noFill/>
          <a:ln w="12700">
            <a:solidFill>
              <a:srgbClr val="E5E7EB"/>
            </a:solidFill>
            <a:prstDash val="solid"/>
          </a:ln>
        </p:spPr>
      </p:sp>
      <p:sp>
        <p:nvSpPr>
          <p:cNvPr id="5" name="Text 3"/>
          <p:cNvSpPr/>
          <p:nvPr/>
        </p:nvSpPr>
        <p:spPr>
          <a:xfrm>
            <a:off x="960120" y="1280160"/>
            <a:ext cx="10271455" cy="320040"/>
          </a:xfrm>
          <a:prstGeom prst="rect">
            <a:avLst/>
          </a:prstGeom>
          <a:noFill/>
          <a:ln/>
        </p:spPr>
        <p:txBody>
          <a:bodyPr wrap="square"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Online dataset dissertations (default):</a:t>
            </a:r>
            <a:endParaRPr lang="en-US" sz="2200" dirty="0"/>
          </a:p>
        </p:txBody>
      </p:sp>
      <p:sp>
        <p:nvSpPr>
          <p:cNvPr id="6" name="Text 4"/>
          <p:cNvSpPr/>
          <p:nvPr/>
        </p:nvSpPr>
        <p:spPr>
          <a:xfrm>
            <a:off x="960120" y="1691640"/>
            <a:ext cx="10271455" cy="914400"/>
          </a:xfrm>
          <a:prstGeom prst="rect">
            <a:avLst/>
          </a:prstGeom>
          <a:noFill/>
          <a:ln/>
        </p:spPr>
        <p:txBody>
          <a:bodyPr wrap="square" rtlCol="0" anchor="t"/>
          <a:lstStyle/>
          <a:p>
            <a:pPr marL="279400" indent="-279400">
              <a:lnSpc>
                <a:spcPct val="115000"/>
              </a:lnSpc>
              <a:buSzPct val="100000"/>
              <a:buChar char="•"/>
            </a:pPr>
            <a:r>
              <a:rPr lang="en-US" sz="2400" dirty="0">
                <a:solidFill>
                  <a:srgbClr val="111827"/>
                </a:solidFill>
                <a:latin typeface="Calibri" pitchFamily="34" charset="0"/>
                <a:ea typeface="Calibri" pitchFamily="34" charset="-122"/>
                <a:cs typeface="Calibri" pitchFamily="34" charset="-120"/>
              </a:rPr>
              <a:t>bandit choice data, learning curves, switching etc.</a:t>
            </a:r>
            <a:endParaRPr lang="en-US" sz="2400" dirty="0"/>
          </a:p>
        </p:txBody>
      </p:sp>
      <p:sp>
        <p:nvSpPr>
          <p:cNvPr id="7" name="Text 5"/>
          <p:cNvSpPr/>
          <p:nvPr/>
        </p:nvSpPr>
        <p:spPr>
          <a:xfrm>
            <a:off x="960120" y="2514600"/>
            <a:ext cx="10271455" cy="320040"/>
          </a:xfrm>
          <a:prstGeom prst="rect">
            <a:avLst/>
          </a:prstGeom>
          <a:noFill/>
          <a:ln/>
        </p:spPr>
        <p:txBody>
          <a:bodyPr wrap="square"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Optional experiments (if time):</a:t>
            </a:r>
            <a:endParaRPr lang="en-US" sz="2200" dirty="0"/>
          </a:p>
        </p:txBody>
      </p:sp>
      <p:sp>
        <p:nvSpPr>
          <p:cNvPr id="8" name="Text 6"/>
          <p:cNvSpPr/>
          <p:nvPr/>
        </p:nvSpPr>
        <p:spPr>
          <a:xfrm>
            <a:off x="960120" y="2926080"/>
            <a:ext cx="10271455" cy="914400"/>
          </a:xfrm>
          <a:prstGeom prst="rect">
            <a:avLst/>
          </a:prstGeom>
          <a:noFill/>
          <a:ln/>
        </p:spPr>
        <p:txBody>
          <a:bodyPr wrap="square" rtlCol="0" anchor="t"/>
          <a:lstStyle/>
          <a:p>
            <a:pPr marL="279400" indent="-279400">
              <a:lnSpc>
                <a:spcPct val="115000"/>
              </a:lnSpc>
              <a:buSzPct val="100000"/>
              <a:buChar char="•"/>
            </a:pPr>
            <a:r>
              <a:rPr lang="en-US" sz="2400" dirty="0">
                <a:solidFill>
                  <a:srgbClr val="111827"/>
                </a:solidFill>
                <a:latin typeface="Calibri" pitchFamily="34" charset="0"/>
                <a:ea typeface="Calibri" pitchFamily="34" charset="-122"/>
                <a:cs typeface="Calibri" pitchFamily="34" charset="-120"/>
              </a:rPr>
              <a:t>simple behavioural tasks, then fit the same model</a:t>
            </a:r>
            <a:endParaRPr lang="en-US" sz="2400" dirty="0"/>
          </a:p>
        </p:txBody>
      </p:sp>
      <p:sp>
        <p:nvSpPr>
          <p:cNvPr id="9" name="Text 7"/>
          <p:cNvSpPr/>
          <p:nvPr/>
        </p:nvSpPr>
        <p:spPr>
          <a:xfrm>
            <a:off x="960120" y="3886200"/>
            <a:ext cx="10271455" cy="731520"/>
          </a:xfrm>
          <a:prstGeom prst="rect">
            <a:avLst/>
          </a:prstGeom>
          <a:noFill/>
          <a:ln/>
        </p:spPr>
        <p:txBody>
          <a:bodyPr wrap="square" rtlCol="0" anchor="ctr"/>
          <a:lstStyle/>
          <a:p>
            <a:pPr indent="0" marL="0">
              <a:buNone/>
            </a:pPr>
            <a:r>
              <a:rPr lang="en-US" sz="2200" i="1" dirty="0">
                <a:solidFill>
                  <a:srgbClr val="334155"/>
                </a:solidFill>
                <a:latin typeface="Calibri" pitchFamily="34" charset="0"/>
                <a:ea typeface="Calibri" pitchFamily="34" charset="-122"/>
                <a:cs typeface="Calibri" pitchFamily="34" charset="-120"/>
              </a:rPr>
              <a:t>Output is the same either way: model, fits, comparisons, interpretation</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D06A7A"/>
          </a:solidFill>
          <a:ln w="12700">
            <a:noFill/>
            <a:prstDash val="solid"/>
          </a:ln>
        </p:spPr>
      </p:sp>
      <p:sp>
        <p:nvSpPr>
          <p:cNvPr id="3" name="Text 1"/>
          <p:cNvSpPr/>
          <p:nvPr/>
        </p:nvSpPr>
        <p:spPr>
          <a:xfrm>
            <a:off x="685800" y="365760"/>
            <a:ext cx="10820095" cy="548640"/>
          </a:xfrm>
          <a:prstGeom prst="rect">
            <a:avLst/>
          </a:prstGeom>
          <a:noFill/>
          <a:ln/>
        </p:spPr>
        <p:txBody>
          <a:bodyPr wrap="square" rtlCol="0" anchor="ctr"/>
          <a:lstStyle/>
          <a:p>
            <a:pPr indent="0" marL="0">
              <a:buNone/>
            </a:pPr>
            <a:r>
              <a:rPr lang="en-US" sz="3400" b="1" dirty="0">
                <a:solidFill>
                  <a:srgbClr val="0F172A"/>
                </a:solidFill>
                <a:latin typeface="Calibri" pitchFamily="34" charset="0"/>
                <a:ea typeface="Calibri" pitchFamily="34" charset="-122"/>
                <a:cs typeface="Calibri" pitchFamily="34" charset="-120"/>
              </a:rPr>
              <a:t>How the lab scales (UG vs Masters pathways)</a:t>
            </a:r>
            <a:endParaRPr lang="en-US" sz="3400" dirty="0"/>
          </a:p>
        </p:txBody>
      </p:sp>
      <p:sp>
        <p:nvSpPr>
          <p:cNvPr id="4" name="Shape 2"/>
          <p:cNvSpPr/>
          <p:nvPr/>
        </p:nvSpPr>
        <p:spPr>
          <a:xfrm>
            <a:off x="685800" y="1024128"/>
            <a:ext cx="10820095" cy="0"/>
          </a:xfrm>
          <a:prstGeom prst="line">
            <a:avLst/>
          </a:prstGeom>
          <a:noFill/>
          <a:ln w="12700">
            <a:solidFill>
              <a:srgbClr val="E5E7EB"/>
            </a:solidFill>
            <a:prstDash val="solid"/>
          </a:ln>
        </p:spPr>
      </p:sp>
      <p:sp>
        <p:nvSpPr>
          <p:cNvPr id="5" name="Text 3"/>
          <p:cNvSpPr/>
          <p:nvPr/>
        </p:nvSpPr>
        <p:spPr>
          <a:xfrm>
            <a:off x="960120" y="1417320"/>
            <a:ext cx="10271455" cy="5303520"/>
          </a:xfrm>
          <a:prstGeom prst="rect">
            <a:avLst/>
          </a:prstGeom>
          <a:noFill/>
          <a:ln/>
        </p:spPr>
        <p:txBody>
          <a:bodyPr wrap="square" rtlCol="0" anchor="t"/>
          <a:lstStyle/>
          <a:p>
            <a:pPr marL="279400" indent="-279400">
              <a:lnSpc>
                <a:spcPct val="115000"/>
              </a:lnSpc>
              <a:buSzPct val="100000"/>
              <a:buChar char="•"/>
            </a:pPr>
            <a:r>
              <a:rPr lang="en-US" sz="2400" dirty="0">
                <a:solidFill>
                  <a:srgbClr val="111827"/>
                </a:solidFill>
                <a:latin typeface="Calibri" pitchFamily="34" charset="0"/>
                <a:ea typeface="Calibri" pitchFamily="34" charset="-122"/>
                <a:cs typeface="Calibri" pitchFamily="34" charset="-120"/>
              </a:rPr>
              <a:t>Undergraduate: one dataset + Model 1 fit + parameter interpretation</a:t>
            </a:r>
            <a:endParaRPr lang="en-US" sz="2400" dirty="0"/>
          </a:p>
          <a:p>
            <a:pPr marL="279400" indent="-279400">
              <a:lnSpc>
                <a:spcPct val="115000"/>
              </a:lnSpc>
              <a:buSzPct val="100000"/>
              <a:buChar char="•"/>
            </a:pPr>
            <a:r>
              <a:rPr lang="en-US" sz="2400" dirty="0">
                <a:solidFill>
                  <a:srgbClr val="111827"/>
                </a:solidFill>
                <a:latin typeface="Calibri" pitchFamily="34" charset="0"/>
                <a:ea typeface="Calibri" pitchFamily="34" charset="-122"/>
                <a:cs typeface="Calibri" pitchFamily="34" charset="-120"/>
              </a:rPr>
              <a:t>Masters: add Model 2 + model comparison + condition differences</a:t>
            </a:r>
            <a:endParaRPr lang="en-US" sz="2400" dirty="0"/>
          </a:p>
          <a:p>
            <a:pPr marL="279400" indent="-279400">
              <a:lnSpc>
                <a:spcPct val="115000"/>
              </a:lnSpc>
              <a:buSzPct val="100000"/>
              <a:buChar char="•"/>
            </a:pPr>
            <a:r>
              <a:rPr lang="en-US" sz="2400" dirty="0">
                <a:solidFill>
                  <a:srgbClr val="111827"/>
                </a:solidFill>
                <a:latin typeface="Calibri" pitchFamily="34" charset="0"/>
                <a:ea typeface="Calibri" pitchFamily="34" charset="-122"/>
                <a:cs typeface="Calibri" pitchFamily="34" charset="-120"/>
              </a:rPr>
              <a:t>Stretch: predictive checks, simple hierarchical ideas</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D06A7A"/>
          </a:solidFill>
          <a:ln w="12700">
            <a:noFill/>
            <a:prstDash val="solid"/>
          </a:ln>
        </p:spPr>
      </p:sp>
      <p:sp>
        <p:nvSpPr>
          <p:cNvPr id="3" name="Text 1"/>
          <p:cNvSpPr/>
          <p:nvPr/>
        </p:nvSpPr>
        <p:spPr>
          <a:xfrm>
            <a:off x="685800" y="365760"/>
            <a:ext cx="10820095" cy="548640"/>
          </a:xfrm>
          <a:prstGeom prst="rect">
            <a:avLst/>
          </a:prstGeom>
          <a:noFill/>
          <a:ln/>
        </p:spPr>
        <p:txBody>
          <a:bodyPr wrap="square" rtlCol="0" anchor="ctr"/>
          <a:lstStyle/>
          <a:p>
            <a:pPr indent="0" marL="0">
              <a:buNone/>
            </a:pPr>
            <a:r>
              <a:rPr lang="en-US" sz="3400" b="1" dirty="0">
                <a:solidFill>
                  <a:srgbClr val="0F172A"/>
                </a:solidFill>
                <a:latin typeface="Calibri" pitchFamily="34" charset="0"/>
                <a:ea typeface="Calibri" pitchFamily="34" charset="-122"/>
                <a:cs typeface="Calibri" pitchFamily="34" charset="-120"/>
              </a:rPr>
              <a:t>Publication pipeline (open science, minimal friction)</a:t>
            </a:r>
            <a:endParaRPr lang="en-US" sz="3400" dirty="0"/>
          </a:p>
        </p:txBody>
      </p:sp>
      <p:sp>
        <p:nvSpPr>
          <p:cNvPr id="4" name="Shape 2"/>
          <p:cNvSpPr/>
          <p:nvPr/>
        </p:nvSpPr>
        <p:spPr>
          <a:xfrm>
            <a:off x="685800" y="1024128"/>
            <a:ext cx="10820095" cy="0"/>
          </a:xfrm>
          <a:prstGeom prst="line">
            <a:avLst/>
          </a:prstGeom>
          <a:noFill/>
          <a:ln w="12700">
            <a:solidFill>
              <a:srgbClr val="E5E7EB"/>
            </a:solidFill>
            <a:prstDash val="solid"/>
          </a:ln>
        </p:spPr>
      </p:sp>
      <p:sp>
        <p:nvSpPr>
          <p:cNvPr id="5" name="Text 3"/>
          <p:cNvSpPr/>
          <p:nvPr/>
        </p:nvSpPr>
        <p:spPr>
          <a:xfrm>
            <a:off x="960120" y="1280160"/>
            <a:ext cx="10271455" cy="5303520"/>
          </a:xfrm>
          <a:prstGeom prst="rect">
            <a:avLst/>
          </a:prstGeom>
          <a:noFill/>
          <a:ln/>
        </p:spPr>
        <p:txBody>
          <a:bodyPr wrap="square" rtlCol="0" anchor="t"/>
          <a:lstStyle/>
          <a:p>
            <a:pPr marL="266700" indent="-266700">
              <a:lnSpc>
                <a:spcPct val="115000"/>
              </a:lnSpc>
              <a:buSzPct val="100000"/>
              <a:buChar char="•"/>
            </a:pPr>
            <a:r>
              <a:rPr lang="en-US" sz="2300" dirty="0">
                <a:solidFill>
                  <a:srgbClr val="111827"/>
                </a:solidFill>
                <a:latin typeface="Calibri" pitchFamily="34" charset="0"/>
                <a:ea typeface="Calibri" pitchFamily="34" charset="-122"/>
                <a:cs typeface="Calibri" pitchFamily="34" charset="-120"/>
              </a:rPr>
              <a:t>Decide: Registered Report vs OSF prereg</a:t>
            </a:r>
            <a:endParaRPr lang="en-US" sz="2300" dirty="0"/>
          </a:p>
          <a:p>
            <a:pPr marL="266700" indent="-266700">
              <a:lnSpc>
                <a:spcPct val="115000"/>
              </a:lnSpc>
              <a:buSzPct val="100000"/>
              <a:buChar char="•"/>
            </a:pPr>
            <a:r>
              <a:rPr lang="en-US" sz="2300" dirty="0">
                <a:solidFill>
                  <a:srgbClr val="111827"/>
                </a:solidFill>
                <a:latin typeface="Calibri" pitchFamily="34" charset="0"/>
                <a:ea typeface="Calibri" pitchFamily="34" charset="-122"/>
                <a:cs typeface="Calibri" pitchFamily="34" charset="-120"/>
              </a:rPr>
              <a:t>Ethics + data governance (UK GDPR minded)</a:t>
            </a:r>
            <a:endParaRPr lang="en-US" sz="2300" dirty="0"/>
          </a:p>
          <a:p>
            <a:pPr marL="266700" indent="-266700">
              <a:lnSpc>
                <a:spcPct val="115000"/>
              </a:lnSpc>
              <a:buSzPct val="100000"/>
              <a:buChar char="•"/>
            </a:pPr>
            <a:r>
              <a:rPr lang="en-US" sz="2300" dirty="0">
                <a:solidFill>
                  <a:srgbClr val="111827"/>
                </a:solidFill>
                <a:latin typeface="Calibri" pitchFamily="34" charset="0"/>
                <a:ea typeface="Calibri" pitchFamily="34" charset="-122"/>
                <a:cs typeface="Calibri" pitchFamily="34" charset="-120"/>
              </a:rPr>
              <a:t>OSF + GitHub linked project</a:t>
            </a:r>
            <a:endParaRPr lang="en-US" sz="2300" dirty="0"/>
          </a:p>
          <a:p>
            <a:pPr marL="266700" indent="-266700">
              <a:lnSpc>
                <a:spcPct val="115000"/>
              </a:lnSpc>
              <a:buSzPct val="100000"/>
              <a:buChar char="•"/>
            </a:pPr>
            <a:r>
              <a:rPr lang="en-US" sz="2300" dirty="0">
                <a:solidFill>
                  <a:srgbClr val="111827"/>
                </a:solidFill>
                <a:latin typeface="Calibri" pitchFamily="34" charset="0"/>
                <a:ea typeface="Calibri" pitchFamily="34" charset="-122"/>
                <a:cs typeface="Calibri" pitchFamily="34" charset="-120"/>
              </a:rPr>
              <a:t>Preprint (PsyArXiv) → journal submission</a:t>
            </a:r>
            <a:endParaRPr lang="en-US" sz="2300" dirty="0"/>
          </a:p>
          <a:p>
            <a:pPr marL="266700" indent="-266700">
              <a:lnSpc>
                <a:spcPct val="115000"/>
              </a:lnSpc>
              <a:buSzPct val="100000"/>
              <a:buChar char="•"/>
            </a:pPr>
            <a:r>
              <a:rPr lang="en-US" sz="2300" dirty="0">
                <a:solidFill>
                  <a:srgbClr val="111827"/>
                </a:solidFill>
                <a:latin typeface="Calibri" pitchFamily="34" charset="0"/>
                <a:ea typeface="Calibri" pitchFamily="34" charset="-122"/>
                <a:cs typeface="Calibri" pitchFamily="34" charset="-120"/>
              </a:rPr>
              <a:t>Archive code release (Zenodo DOI)</a:t>
            </a:r>
            <a:endParaRPr lang="en-US" sz="2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D06A7A"/>
          </a:solidFill>
          <a:ln w="12700">
            <a:noFill/>
            <a:prstDash val="solid"/>
          </a:ln>
        </p:spPr>
      </p:sp>
      <p:sp>
        <p:nvSpPr>
          <p:cNvPr id="3" name="Text 1"/>
          <p:cNvSpPr/>
          <p:nvPr/>
        </p:nvSpPr>
        <p:spPr>
          <a:xfrm>
            <a:off x="685800" y="365760"/>
            <a:ext cx="10820095" cy="548640"/>
          </a:xfrm>
          <a:prstGeom prst="rect">
            <a:avLst/>
          </a:prstGeom>
          <a:noFill/>
          <a:ln/>
        </p:spPr>
        <p:txBody>
          <a:bodyPr wrap="square" rtlCol="0" anchor="ctr"/>
          <a:lstStyle/>
          <a:p>
            <a:pPr indent="0" marL="0">
              <a:buNone/>
            </a:pPr>
            <a:r>
              <a:rPr lang="en-US" sz="3400" b="1" dirty="0">
                <a:solidFill>
                  <a:srgbClr val="0F172A"/>
                </a:solidFill>
                <a:latin typeface="Calibri" pitchFamily="34" charset="0"/>
                <a:ea typeface="Calibri" pitchFamily="34" charset="-122"/>
                <a:cs typeface="Calibri" pitchFamily="34" charset="-120"/>
              </a:rPr>
              <a:t>AI-assist: allowed, documented, verified</a:t>
            </a:r>
            <a:endParaRPr lang="en-US" sz="3400" dirty="0"/>
          </a:p>
        </p:txBody>
      </p:sp>
      <p:sp>
        <p:nvSpPr>
          <p:cNvPr id="4" name="Shape 2"/>
          <p:cNvSpPr/>
          <p:nvPr/>
        </p:nvSpPr>
        <p:spPr>
          <a:xfrm>
            <a:off x="685800" y="1024128"/>
            <a:ext cx="10820095" cy="0"/>
          </a:xfrm>
          <a:prstGeom prst="line">
            <a:avLst/>
          </a:prstGeom>
          <a:noFill/>
          <a:ln w="12700">
            <a:solidFill>
              <a:srgbClr val="E5E7EB"/>
            </a:solidFill>
            <a:prstDash val="solid"/>
          </a:ln>
        </p:spPr>
      </p:sp>
      <p:sp>
        <p:nvSpPr>
          <p:cNvPr id="5" name="Text 3"/>
          <p:cNvSpPr/>
          <p:nvPr/>
        </p:nvSpPr>
        <p:spPr>
          <a:xfrm>
            <a:off x="960120" y="1325880"/>
            <a:ext cx="10271455" cy="457200"/>
          </a:xfrm>
          <a:prstGeom prst="rect">
            <a:avLst/>
          </a:prstGeom>
          <a:noFill/>
          <a:ln/>
        </p:spPr>
        <p:txBody>
          <a:bodyPr wrap="square" rtlCol="0" anchor="ctr"/>
          <a:lstStyle/>
          <a:p>
            <a:pPr indent="0" marL="0">
              <a:buNone/>
            </a:pPr>
            <a:r>
              <a:rPr lang="en-US" sz="2600" dirty="0">
                <a:solidFill>
                  <a:srgbClr val="111827"/>
                </a:solidFill>
                <a:latin typeface="Calibri" pitchFamily="34" charset="0"/>
                <a:ea typeface="Calibri" pitchFamily="34" charset="-122"/>
                <a:cs typeface="Calibri" pitchFamily="34" charset="-120"/>
              </a:rPr>
              <a:t>AI tools can help draft code/prose</a:t>
            </a:r>
            <a:endParaRPr lang="en-US" sz="2600" dirty="0"/>
          </a:p>
        </p:txBody>
      </p:sp>
      <p:sp>
        <p:nvSpPr>
          <p:cNvPr id="6" name="Text 4"/>
          <p:cNvSpPr/>
          <p:nvPr/>
        </p:nvSpPr>
        <p:spPr>
          <a:xfrm>
            <a:off x="960120" y="2011680"/>
            <a:ext cx="10271455" cy="365760"/>
          </a:xfrm>
          <a:prstGeom prst="rect">
            <a:avLst/>
          </a:prstGeom>
          <a:noFill/>
          <a:ln/>
        </p:spPr>
        <p:txBody>
          <a:bodyPr wrap="square"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Requirements:</a:t>
            </a:r>
            <a:endParaRPr lang="en-US" sz="2200" dirty="0"/>
          </a:p>
        </p:txBody>
      </p:sp>
      <p:sp>
        <p:nvSpPr>
          <p:cNvPr id="7" name="Text 5"/>
          <p:cNvSpPr/>
          <p:nvPr/>
        </p:nvSpPr>
        <p:spPr>
          <a:xfrm>
            <a:off x="960120" y="2468880"/>
            <a:ext cx="10271455" cy="5303520"/>
          </a:xfrm>
          <a:prstGeom prst="rect">
            <a:avLst/>
          </a:prstGeom>
          <a:noFill/>
          <a:ln/>
        </p:spPr>
        <p:txBody>
          <a:bodyPr wrap="square" rtlCol="0" anchor="t"/>
          <a:lstStyle/>
          <a:p>
            <a:pPr marL="292100" indent="-292100">
              <a:lnSpc>
                <a:spcPct val="115000"/>
              </a:lnSpc>
              <a:buSzPct val="100000"/>
              <a:buChar char="•"/>
            </a:pPr>
            <a:r>
              <a:rPr lang="en-US" sz="2600" dirty="0">
                <a:solidFill>
                  <a:srgbClr val="111827"/>
                </a:solidFill>
                <a:latin typeface="Calibri" pitchFamily="34" charset="0"/>
                <a:ea typeface="Calibri" pitchFamily="34" charset="-122"/>
                <a:cs typeface="Calibri" pitchFamily="34" charset="-120"/>
              </a:rPr>
              <a:t>you review and test</a:t>
            </a:r>
            <a:endParaRPr lang="en-US" sz="2600" dirty="0"/>
          </a:p>
          <a:p>
            <a:pPr marL="292100" indent="-292100">
              <a:lnSpc>
                <a:spcPct val="115000"/>
              </a:lnSpc>
              <a:buSzPct val="100000"/>
              <a:buChar char="•"/>
            </a:pPr>
            <a:r>
              <a:rPr lang="en-US" sz="2600" dirty="0">
                <a:solidFill>
                  <a:srgbClr val="111827"/>
                </a:solidFill>
                <a:latin typeface="Calibri" pitchFamily="34" charset="0"/>
                <a:ea typeface="Calibri" pitchFamily="34" charset="-122"/>
                <a:cs typeface="Calibri" pitchFamily="34" charset="-120"/>
              </a:rPr>
              <a:t>disclose usage briefly</a:t>
            </a:r>
            <a:endParaRPr lang="en-US" sz="2600" dirty="0"/>
          </a:p>
          <a:p>
            <a:pPr marL="292100" indent="-292100">
              <a:lnSpc>
                <a:spcPct val="115000"/>
              </a:lnSpc>
              <a:buSzPct val="100000"/>
              <a:buChar char="•"/>
            </a:pPr>
            <a:r>
              <a:rPr lang="en-US" sz="2600" dirty="0">
                <a:solidFill>
                  <a:srgbClr val="111827"/>
                </a:solidFill>
                <a:latin typeface="Calibri" pitchFamily="34" charset="0"/>
                <a:ea typeface="Calibri" pitchFamily="34" charset="-122"/>
                <a:cs typeface="Calibri" pitchFamily="34" charset="-120"/>
              </a:rPr>
              <a:t>keep outputs versioned</a:t>
            </a:r>
            <a:endParaRPr lang="en-US" sz="2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D06A7A"/>
          </a:solidFill>
          <a:ln w="12700">
            <a:noFill/>
            <a:prstDash val="solid"/>
          </a:ln>
        </p:spPr>
      </p:sp>
      <p:sp>
        <p:nvSpPr>
          <p:cNvPr id="3" name="Text 1"/>
          <p:cNvSpPr/>
          <p:nvPr/>
        </p:nvSpPr>
        <p:spPr>
          <a:xfrm>
            <a:off x="685800" y="365760"/>
            <a:ext cx="10820095" cy="548640"/>
          </a:xfrm>
          <a:prstGeom prst="rect">
            <a:avLst/>
          </a:prstGeom>
          <a:noFill/>
          <a:ln/>
        </p:spPr>
        <p:txBody>
          <a:bodyPr wrap="square" rtlCol="0" anchor="ctr"/>
          <a:lstStyle/>
          <a:p>
            <a:pPr indent="0" marL="0">
              <a:buNone/>
            </a:pPr>
            <a:r>
              <a:rPr lang="en-US" sz="3400" b="1" dirty="0">
                <a:solidFill>
                  <a:srgbClr val="0F172A"/>
                </a:solidFill>
                <a:latin typeface="Calibri" pitchFamily="34" charset="0"/>
                <a:ea typeface="Calibri" pitchFamily="34" charset="-122"/>
                <a:cs typeface="Calibri" pitchFamily="34" charset="-120"/>
              </a:rPr>
              <a:t>What you will submit (Workshop 1 replication pack)</a:t>
            </a:r>
            <a:endParaRPr lang="en-US" sz="3400" dirty="0"/>
          </a:p>
        </p:txBody>
      </p:sp>
      <p:sp>
        <p:nvSpPr>
          <p:cNvPr id="4" name="Shape 2"/>
          <p:cNvSpPr/>
          <p:nvPr/>
        </p:nvSpPr>
        <p:spPr>
          <a:xfrm>
            <a:off x="685800" y="1024128"/>
            <a:ext cx="10820095" cy="0"/>
          </a:xfrm>
          <a:prstGeom prst="line">
            <a:avLst/>
          </a:prstGeom>
          <a:noFill/>
          <a:ln w="12700">
            <a:solidFill>
              <a:srgbClr val="E5E7EB"/>
            </a:solidFill>
            <a:prstDash val="solid"/>
          </a:ln>
        </p:spPr>
      </p:sp>
      <p:sp>
        <p:nvSpPr>
          <p:cNvPr id="5" name="Text 3"/>
          <p:cNvSpPr/>
          <p:nvPr/>
        </p:nvSpPr>
        <p:spPr>
          <a:xfrm>
            <a:off x="960120" y="1234440"/>
            <a:ext cx="10271455" cy="2834640"/>
          </a:xfrm>
          <a:prstGeom prst="rect">
            <a:avLst/>
          </a:prstGeom>
          <a:noFill/>
          <a:ln/>
        </p:spPr>
        <p:txBody>
          <a:bodyPr wrap="square" rtlCol="0" anchor="t"/>
          <a:lstStyle/>
          <a:p>
            <a:pPr marL="241300" indent="-241300">
              <a:lnSpc>
                <a:spcPct val="112000"/>
              </a:lnSpc>
              <a:buSzPct val="100000"/>
              <a:buChar char="•"/>
            </a:pPr>
            <a:r>
              <a:rPr lang="en-US" sz="2100" dirty="0">
                <a:solidFill>
                  <a:srgbClr val="111827"/>
                </a:solidFill>
                <a:latin typeface="Calibri" pitchFamily="34" charset="0"/>
                <a:ea typeface="Calibri" pitchFamily="34" charset="-122"/>
                <a:cs typeface="Calibri" pitchFamily="34" charset="-120"/>
              </a:rPr>
              <a:t>Completed GAME worksheet (G + A completed for the demo model)</a:t>
            </a:r>
            <a:endParaRPr lang="en-US" sz="2100" dirty="0"/>
          </a:p>
          <a:p>
            <a:pPr marL="241300" indent="-241300">
              <a:lnSpc>
                <a:spcPct val="112000"/>
              </a:lnSpc>
              <a:buSzPct val="100000"/>
              <a:buChar char="•"/>
            </a:pPr>
            <a:r>
              <a:rPr lang="en-US" sz="2100" dirty="0">
                <a:solidFill>
                  <a:srgbClr val="111827"/>
                </a:solidFill>
                <a:latin typeface="Calibri" pitchFamily="34" charset="0"/>
                <a:ea typeface="Calibri" pitchFamily="34" charset="-122"/>
                <a:cs typeface="Calibri" pitchFamily="34" charset="-120"/>
              </a:rPr>
              <a:t>Your own GitHub repo (fork or fresh)</a:t>
            </a:r>
            <a:endParaRPr lang="en-US" sz="2100" dirty="0"/>
          </a:p>
          <a:p>
            <a:pPr marL="241300" indent="-241300">
              <a:lnSpc>
                <a:spcPct val="112000"/>
              </a:lnSpc>
              <a:buSzPct val="100000"/>
              <a:buChar char="•"/>
            </a:pPr>
            <a:r>
              <a:rPr lang="en-US" sz="2100" dirty="0">
                <a:solidFill>
                  <a:srgbClr val="111827"/>
                </a:solidFill>
                <a:latin typeface="Calibri" pitchFamily="34" charset="0"/>
                <a:ea typeface="Calibri" pitchFamily="34" charset="-122"/>
                <a:cs typeface="Calibri" pitchFamily="34" charset="-120"/>
              </a:rPr>
              <a:t>Outputs from your run</a:t>
            </a:r>
            <a:endParaRPr lang="en-US" sz="2100" dirty="0"/>
          </a:p>
          <a:p>
            <a:pPr marL="241300" indent="-241300">
              <a:lnSpc>
                <a:spcPct val="112000"/>
              </a:lnSpc>
              <a:buSzPct val="100000"/>
              <a:buChar char="•"/>
            </a:pPr>
            <a:r>
              <a:rPr lang="en-US" sz="2100" dirty="0">
                <a:solidFill>
                  <a:srgbClr val="111827"/>
                </a:solidFill>
                <a:latin typeface="Calibri" pitchFamily="34" charset="0"/>
                <a:ea typeface="Calibri" pitchFamily="34" charset="-122"/>
                <a:cs typeface="Calibri" pitchFamily="34" charset="-120"/>
              </a:rPr>
              <a:t>One-page reproducibility log + limitations (what worked, what didn’t, what you’d change)</a:t>
            </a:r>
            <a:endParaRPr lang="en-US" sz="2100" dirty="0"/>
          </a:p>
        </p:txBody>
      </p:sp>
      <p:sp>
        <p:nvSpPr>
          <p:cNvPr id="6" name="Text 4"/>
          <p:cNvSpPr/>
          <p:nvPr/>
        </p:nvSpPr>
        <p:spPr>
          <a:xfrm>
            <a:off x="960120" y="4160520"/>
            <a:ext cx="5394960" cy="320040"/>
          </a:xfrm>
          <a:prstGeom prst="rect">
            <a:avLst/>
          </a:prstGeom>
          <a:noFill/>
          <a:ln/>
        </p:spPr>
        <p:txBody>
          <a:bodyPr wrap="square"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Repo must include:</a:t>
            </a:r>
            <a:endParaRPr lang="en-US" sz="1800" dirty="0"/>
          </a:p>
        </p:txBody>
      </p:sp>
      <p:sp>
        <p:nvSpPr>
          <p:cNvPr id="7" name="Text 5"/>
          <p:cNvSpPr/>
          <p:nvPr/>
        </p:nvSpPr>
        <p:spPr>
          <a:xfrm>
            <a:off x="1143000" y="4526280"/>
            <a:ext cx="5212080" cy="1097280"/>
          </a:xfrm>
          <a:prstGeom prst="rect">
            <a:avLst/>
          </a:prstGeom>
          <a:noFill/>
          <a:ln/>
        </p:spPr>
        <p:txBody>
          <a:bodyPr wrap="square" rtlCol="0" anchor="t"/>
          <a:lstStyle/>
          <a:p>
            <a:pPr marL="203200" indent="-203200">
              <a:lnSpc>
                <a:spcPct val="115000"/>
              </a:lnSpc>
              <a:buSzPct val="100000"/>
              <a:buChar char="•"/>
            </a:pPr>
            <a:r>
              <a:rPr lang="en-US" sz="1800" dirty="0">
                <a:solidFill>
                  <a:srgbClr val="111827"/>
                </a:solidFill>
                <a:latin typeface="Calibri" pitchFamily="34" charset="0"/>
                <a:ea typeface="Calibri" pitchFamily="34" charset="-122"/>
                <a:cs typeface="Calibri" pitchFamily="34" charset="-120"/>
              </a:rPr>
              <a:t>README + “Open in Colab” link</a:t>
            </a:r>
            <a:endParaRPr lang="en-US" sz="1800" dirty="0"/>
          </a:p>
          <a:p>
            <a:pPr marL="203200" indent="-203200">
              <a:lnSpc>
                <a:spcPct val="115000"/>
              </a:lnSpc>
              <a:buSzPct val="100000"/>
              <a:buChar char="•"/>
            </a:pPr>
            <a:r>
              <a:rPr lang="en-US" sz="1800" dirty="0">
                <a:solidFill>
                  <a:srgbClr val="111827"/>
                </a:solidFill>
                <a:latin typeface="Calibri" pitchFamily="34" charset="0"/>
                <a:ea typeface="Calibri" pitchFamily="34" charset="-122"/>
                <a:cs typeface="Calibri" pitchFamily="34" charset="-120"/>
              </a:rPr>
              <a:t>1 notebook that runs top-to-bottom (“Run all”)</a:t>
            </a:r>
            <a:endParaRPr lang="en-US" sz="1800" dirty="0"/>
          </a:p>
        </p:txBody>
      </p:sp>
      <p:sp>
        <p:nvSpPr>
          <p:cNvPr id="8" name="Text 6"/>
          <p:cNvSpPr/>
          <p:nvPr/>
        </p:nvSpPr>
        <p:spPr>
          <a:xfrm>
            <a:off x="6400800" y="4160520"/>
            <a:ext cx="5120640" cy="320040"/>
          </a:xfrm>
          <a:prstGeom prst="rect">
            <a:avLst/>
          </a:prstGeom>
          <a:noFill/>
          <a:ln/>
        </p:spPr>
        <p:txBody>
          <a:bodyPr wrap="square"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Outputs must include:</a:t>
            </a:r>
            <a:endParaRPr lang="en-US" sz="1800" dirty="0"/>
          </a:p>
        </p:txBody>
      </p:sp>
      <p:sp>
        <p:nvSpPr>
          <p:cNvPr id="9" name="Text 7"/>
          <p:cNvSpPr/>
          <p:nvPr/>
        </p:nvSpPr>
        <p:spPr>
          <a:xfrm>
            <a:off x="6583680" y="4526280"/>
            <a:ext cx="4937760" cy="1097280"/>
          </a:xfrm>
          <a:prstGeom prst="rect">
            <a:avLst/>
          </a:prstGeom>
          <a:noFill/>
          <a:ln/>
        </p:spPr>
        <p:txBody>
          <a:bodyPr wrap="square" rtlCol="0" anchor="t"/>
          <a:lstStyle/>
          <a:p>
            <a:pPr marL="203200" indent="-203200">
              <a:lnSpc>
                <a:spcPct val="115000"/>
              </a:lnSpc>
              <a:buSzPct val="100000"/>
              <a:buChar char="•"/>
            </a:pPr>
            <a:r>
              <a:rPr lang="en-US" sz="1800" dirty="0">
                <a:solidFill>
                  <a:srgbClr val="111827"/>
                </a:solidFill>
                <a:latin typeface="Calibri" pitchFamily="34" charset="0"/>
                <a:ea typeface="Calibri" pitchFamily="34" charset="-122"/>
                <a:cs typeface="Calibri" pitchFamily="34" charset="-120"/>
              </a:rPr>
              <a:t>1–2 plots + a small results table (CSV)</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D06A7A"/>
          </a:solidFill>
          <a:ln w="12700">
            <a:noFill/>
            <a:prstDash val="solid"/>
          </a:ln>
        </p:spPr>
      </p:sp>
      <p:sp>
        <p:nvSpPr>
          <p:cNvPr id="3" name="Text 1"/>
          <p:cNvSpPr/>
          <p:nvPr/>
        </p:nvSpPr>
        <p:spPr>
          <a:xfrm>
            <a:off x="685800" y="365760"/>
            <a:ext cx="10820095" cy="548640"/>
          </a:xfrm>
          <a:prstGeom prst="rect">
            <a:avLst/>
          </a:prstGeom>
          <a:noFill/>
          <a:ln/>
        </p:spPr>
        <p:txBody>
          <a:bodyPr wrap="square" rtlCol="0" anchor="ctr"/>
          <a:lstStyle/>
          <a:p>
            <a:pPr indent="0" marL="0">
              <a:buNone/>
            </a:pPr>
            <a:r>
              <a:rPr lang="en-US" sz="3400" b="1" dirty="0">
                <a:solidFill>
                  <a:srgbClr val="0F172A"/>
                </a:solidFill>
                <a:latin typeface="Calibri" pitchFamily="34" charset="0"/>
                <a:ea typeface="Calibri" pitchFamily="34" charset="-122"/>
                <a:cs typeface="Calibri" pitchFamily="34" charset="-120"/>
              </a:rPr>
              <a:t>Close: what you do next (this week’s replication steps)</a:t>
            </a:r>
            <a:endParaRPr lang="en-US" sz="3400" dirty="0"/>
          </a:p>
        </p:txBody>
      </p:sp>
      <p:sp>
        <p:nvSpPr>
          <p:cNvPr id="4" name="Shape 2"/>
          <p:cNvSpPr/>
          <p:nvPr/>
        </p:nvSpPr>
        <p:spPr>
          <a:xfrm>
            <a:off x="685800" y="1024128"/>
            <a:ext cx="10820095" cy="0"/>
          </a:xfrm>
          <a:prstGeom prst="line">
            <a:avLst/>
          </a:prstGeom>
          <a:noFill/>
          <a:ln w="12700">
            <a:solidFill>
              <a:srgbClr val="E5E7EB"/>
            </a:solidFill>
            <a:prstDash val="solid"/>
          </a:ln>
        </p:spPr>
      </p:sp>
      <p:sp>
        <p:nvSpPr>
          <p:cNvPr id="5" name="Text 3"/>
          <p:cNvSpPr/>
          <p:nvPr/>
        </p:nvSpPr>
        <p:spPr>
          <a:xfrm>
            <a:off x="960120" y="1280160"/>
            <a:ext cx="10271455" cy="5303520"/>
          </a:xfrm>
          <a:prstGeom prst="rect">
            <a:avLst/>
          </a:prstGeom>
          <a:noFill/>
          <a:ln/>
        </p:spPr>
        <p:txBody>
          <a:bodyPr wrap="square" rtlCol="0" anchor="t"/>
          <a:lstStyle/>
          <a:p>
            <a:pPr marL="254000" indent="-254000">
              <a:lnSpc>
                <a:spcPct val="118000"/>
              </a:lnSpc>
              <a:buSzPct val="100000"/>
              <a:buChar char="•"/>
            </a:pPr>
            <a:r>
              <a:rPr lang="en-US" sz="2200" dirty="0">
                <a:solidFill>
                  <a:srgbClr val="111827"/>
                </a:solidFill>
                <a:latin typeface="Calibri" pitchFamily="34" charset="0"/>
                <a:ea typeface="Calibri" pitchFamily="34" charset="-122"/>
                <a:cs typeface="Calibri" pitchFamily="34" charset="-120"/>
              </a:rPr>
              <a:t>Fork / create your own repo from the lab starter template</a:t>
            </a:r>
            <a:endParaRPr lang="en-US" sz="2200" dirty="0"/>
          </a:p>
          <a:p>
            <a:pPr marL="254000" indent="-254000">
              <a:lnSpc>
                <a:spcPct val="118000"/>
              </a:lnSpc>
              <a:buSzPct val="100000"/>
              <a:buChar char="•"/>
            </a:pPr>
            <a:r>
              <a:rPr lang="en-US" sz="2200" dirty="0">
                <a:solidFill>
                  <a:srgbClr val="111827"/>
                </a:solidFill>
                <a:latin typeface="Calibri" pitchFamily="34" charset="0"/>
                <a:ea typeface="Calibri" pitchFamily="34" charset="-122"/>
                <a:cs typeface="Calibri" pitchFamily="34" charset="-120"/>
              </a:rPr>
              <a:t>Add a README + Open-in-Colab link</a:t>
            </a:r>
            <a:endParaRPr lang="en-US" sz="2200" dirty="0"/>
          </a:p>
          <a:p>
            <a:pPr marL="254000" indent="-254000">
              <a:lnSpc>
                <a:spcPct val="118000"/>
              </a:lnSpc>
              <a:buSzPct val="100000"/>
              <a:buChar char="•"/>
            </a:pPr>
            <a:r>
              <a:rPr lang="en-US" sz="2200" dirty="0">
                <a:solidFill>
                  <a:srgbClr val="111827"/>
                </a:solidFill>
                <a:latin typeface="Calibri" pitchFamily="34" charset="0"/>
                <a:ea typeface="Calibri" pitchFamily="34" charset="-122"/>
                <a:cs typeface="Calibri" pitchFamily="34" charset="-120"/>
              </a:rPr>
              <a:t>Run the demo simulation notebook and save outputs (plot + CSV)</a:t>
            </a:r>
            <a:endParaRPr lang="en-US" sz="2200" dirty="0"/>
          </a:p>
          <a:p>
            <a:pPr marL="254000" indent="-254000">
              <a:lnSpc>
                <a:spcPct val="118000"/>
              </a:lnSpc>
              <a:buSzPct val="100000"/>
              <a:buChar char="•"/>
            </a:pPr>
            <a:r>
              <a:rPr lang="en-US" sz="2200" dirty="0">
                <a:solidFill>
                  <a:srgbClr val="111827"/>
                </a:solidFill>
                <a:latin typeface="Calibri" pitchFamily="34" charset="0"/>
                <a:ea typeface="Calibri" pitchFamily="34" charset="-122"/>
                <a:cs typeface="Calibri" pitchFamily="34" charset="-120"/>
              </a:rPr>
              <a:t>Fill GAME: G1–G6 and A1–A5 for the demo model</a:t>
            </a:r>
            <a:endParaRPr lang="en-US" sz="2200" dirty="0"/>
          </a:p>
          <a:p>
            <a:pPr marL="254000" indent="-254000">
              <a:lnSpc>
                <a:spcPct val="118000"/>
              </a:lnSpc>
              <a:buSzPct val="100000"/>
              <a:buChar char="•"/>
            </a:pPr>
            <a:r>
              <a:rPr lang="en-US" sz="2200" dirty="0">
                <a:solidFill>
                  <a:srgbClr val="111827"/>
                </a:solidFill>
                <a:latin typeface="Calibri" pitchFamily="34" charset="0"/>
                <a:ea typeface="Calibri" pitchFamily="34" charset="-122"/>
                <a:cs typeface="Calibri" pitchFamily="34" charset="-120"/>
              </a:rPr>
              <a:t>Bring one project idea next time (we’ll test feasibility in Workshop 2/3)</a:t>
            </a:r>
            <a:endParaRPr lang="en-US" sz="2200" dirty="0"/>
          </a:p>
        </p:txBody>
      </p:sp>
      <p:sp>
        <p:nvSpPr>
          <p:cNvPr id="6" name="Text 4"/>
          <p:cNvSpPr/>
          <p:nvPr/>
        </p:nvSpPr>
        <p:spPr>
          <a:xfrm>
            <a:off x="685800" y="6446520"/>
            <a:ext cx="10820095" cy="320040"/>
          </a:xfrm>
          <a:prstGeom prst="rect">
            <a:avLst/>
          </a:prstGeom>
          <a:noFill/>
          <a:ln/>
        </p:spPr>
        <p:txBody>
          <a:bodyPr wrap="square" rtlCol="0" anchor="ctr"/>
          <a:lstStyle/>
          <a:p>
            <a:pPr indent="0" marL="0">
              <a:buNone/>
            </a:pPr>
            <a:r>
              <a:rPr lang="en-US" sz="1200" dirty="0">
                <a:solidFill>
                  <a:srgbClr val="334155"/>
                </a:solidFill>
                <a:latin typeface="Calibri" pitchFamily="34" charset="0"/>
                <a:ea typeface="Calibri" pitchFamily="34" charset="-122"/>
                <a:cs typeface="Calibri" pitchFamily="34" charset="-120"/>
              </a:rPr>
              <a:t>Best-practice reading (optional, recommended): Miłkowski et al. (2018) https://doi.org/10.1007/s10827-018-0702-z</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University Computational Psychology 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Workshop 1 — Computational Psychology as a Research Paradigm (GAME)</dc:subject>
  <dc:creator>Computational Psychology Lab</dc:creator>
  <cp:lastModifiedBy>Computational Psychology Lab</cp:lastModifiedBy>
  <cp:revision>1</cp:revision>
  <dcterms:created xsi:type="dcterms:W3CDTF">2026-01-10T19:23:53Z</dcterms:created>
  <dcterms:modified xsi:type="dcterms:W3CDTF">2026-01-10T19:23:53Z</dcterms:modified>
</cp:coreProperties>
</file>